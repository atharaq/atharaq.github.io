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9144000"/>
  <p:notesSz cx="6858000" cy="9144000"/>
  <p:embeddedFontLst>
    <p:embeddedFont>
      <p:font typeface="Proxima Nova"/>
      <p:regular r:id="rId39"/>
      <p:bold r:id="rId40"/>
      <p:italic r:id="rId41"/>
      <p:boldItalic r:id="rId42"/>
    </p:embeddedFont>
    <p:embeddedFont>
      <p:font typeface="Roboto"/>
      <p:regular r:id="rId43"/>
      <p:bold r:id="rId44"/>
      <p:italic r:id="rId45"/>
      <p:boldItalic r:id="rId46"/>
    </p:embeddedFont>
    <p:embeddedFont>
      <p:font typeface="Alfa Slab One"/>
      <p:regular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jlg1Q038DIJuR/tlFkP/vdOdPL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448C32-5AD0-497D-A96F-C48BE2F4132A}">
  <a:tblStyle styleId="{17448C32-5AD0-497D-A96F-C48BE2F4132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bold.fntdata"/><Relationship Id="rId20" Type="http://schemas.openxmlformats.org/officeDocument/2006/relationships/slide" Target="slides/slide14.xml"/><Relationship Id="rId42" Type="http://schemas.openxmlformats.org/officeDocument/2006/relationships/font" Target="fonts/ProximaNova-boldItalic.fntdata"/><Relationship Id="rId41" Type="http://schemas.openxmlformats.org/officeDocument/2006/relationships/font" Target="fonts/ProximaNova-italic.fntdata"/><Relationship Id="rId22" Type="http://schemas.openxmlformats.org/officeDocument/2006/relationships/slide" Target="slides/slide16.xml"/><Relationship Id="rId44" Type="http://schemas.openxmlformats.org/officeDocument/2006/relationships/font" Target="fonts/Roboto-bold.fntdata"/><Relationship Id="rId21" Type="http://schemas.openxmlformats.org/officeDocument/2006/relationships/slide" Target="slides/slide15.xml"/><Relationship Id="rId43" Type="http://schemas.openxmlformats.org/officeDocument/2006/relationships/font" Target="fonts/Roboto-regular.fntdata"/><Relationship Id="rId24" Type="http://schemas.openxmlformats.org/officeDocument/2006/relationships/slide" Target="slides/slide18.xml"/><Relationship Id="rId46" Type="http://schemas.openxmlformats.org/officeDocument/2006/relationships/font" Target="fonts/Roboto-boldItalic.fntdata"/><Relationship Id="rId23" Type="http://schemas.openxmlformats.org/officeDocument/2006/relationships/slide" Target="slides/slide17.xml"/><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AlfaSlabOne-regular.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ProximaNova-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Good afternoon everyone — thank you so much for being here. And first, I want to give a big thank you to Athar and to Purchase College for inviting me to speak today. It’s a privilege to be here with you.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Let me start with a quick question — how many of you have ever worked really hard on something, only to feel like no one noticed? Maybe a class project, a job, or even a personal goal that took a ton of effort — but it didn’t quite get the recognition you hoped for.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That’s something almost everyone experiences at some point, and it’s really what today’s talk is about.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session — </a:t>
            </a:r>
            <a:r>
              <a:rPr i="1" lang="en-US">
                <a:solidFill>
                  <a:schemeClr val="dk1"/>
                </a:solidFill>
              </a:rPr>
              <a:t>Scaling Your Career Brand</a:t>
            </a:r>
            <a:r>
              <a:rPr lang="en-US">
                <a:solidFill>
                  <a:schemeClr val="dk1"/>
                </a:solidFill>
              </a:rPr>
              <a:t> — is about how to make sure the great work you’re already doing doesn’t stay invisible. It’s about how to grow </a:t>
            </a:r>
            <a:r>
              <a:rPr b="1" lang="en-US">
                <a:solidFill>
                  <a:schemeClr val="dk1"/>
                </a:solidFill>
              </a:rPr>
              <a:t>visibility</a:t>
            </a:r>
            <a:r>
              <a:rPr lang="en-US">
                <a:solidFill>
                  <a:schemeClr val="dk1"/>
                </a:solidFill>
              </a:rPr>
              <a:t>, </a:t>
            </a:r>
            <a:r>
              <a:rPr b="1" lang="en-US">
                <a:solidFill>
                  <a:schemeClr val="dk1"/>
                </a:solidFill>
              </a:rPr>
              <a:t>trust</a:t>
            </a:r>
            <a:r>
              <a:rPr lang="en-US">
                <a:solidFill>
                  <a:schemeClr val="dk1"/>
                </a:solidFill>
              </a:rPr>
              <a:t>, and </a:t>
            </a:r>
            <a:r>
              <a:rPr b="1" lang="en-US">
                <a:solidFill>
                  <a:schemeClr val="dk1"/>
                </a:solidFill>
              </a:rPr>
              <a:t>impact</a:t>
            </a:r>
            <a:r>
              <a:rPr lang="en-US">
                <a:solidFill>
                  <a:schemeClr val="dk1"/>
                </a:solidFill>
              </a:rPr>
              <a:t> in your career — the three ingredients that make your work scale beyond just effort.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We’re going to look at practical habits, tools, and real examples that can help you build a reputation system that grows with you — not just for your next job, but for your entire career.</a:t>
            </a:r>
            <a:endParaRPr>
              <a:solidFill>
                <a:schemeClr val="dk1"/>
              </a:solidFill>
            </a:endParaRPr>
          </a:p>
          <a:p>
            <a:pPr indent="0" lvl="0" marL="0" rtl="0" algn="l">
              <a:spcBef>
                <a:spcPts val="1200"/>
              </a:spcBef>
              <a:spcAft>
                <a:spcPts val="0"/>
              </a:spcAft>
              <a:buNone/>
            </a:pPr>
            <a:r>
              <a:t/>
            </a:r>
            <a:endParaRPr/>
          </a:p>
        </p:txBody>
      </p:sp>
      <p:sp>
        <p:nvSpPr>
          <p:cNvPr id="61" name="Google Shape;6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a little about me before we get started. My name is Bilal Abdul-Nabi, and I’m a Senior Software Engineer at UPS. I’ve been developing software professionally for about twelve years now — across everything from enterprise systems to startups to my own side projects.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I’m originally from the Boogie Down Bronx — so if you hear a little bit of New York energy come through, that’s why.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Outside of work, I run a personal tech brand called </a:t>
            </a:r>
            <a:r>
              <a:rPr i="1" lang="en-US">
                <a:solidFill>
                  <a:schemeClr val="dk1"/>
                </a:solidFill>
              </a:rPr>
              <a:t>Lebiru</a:t>
            </a:r>
            <a:r>
              <a:rPr lang="en-US">
                <a:solidFill>
                  <a:schemeClr val="dk1"/>
                </a:solidFill>
              </a:rPr>
              <a:t>, where I share articles, tools, and projects focused on software engineering, productivity, and building technical careers. You can find all of that on my site, GitHub, or LinkedIn.</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The reason I’m here today isn’t just to talk about code, though — it’s to talk about the systems behind your career. The same way we scale technology, we can scale our own visibility and impact. And that’s what this talk is all about.</a:t>
            </a:r>
            <a:endParaRPr/>
          </a:p>
        </p:txBody>
      </p:sp>
      <p:sp>
        <p:nvSpPr>
          <p:cNvPr id="67" name="Google Shape;6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here’s what you can expect to get out of today’s session.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we’ll talk about what a </a:t>
            </a:r>
            <a:r>
              <a:rPr b="1" lang="en-US">
                <a:solidFill>
                  <a:schemeClr val="dk1"/>
                </a:solidFill>
              </a:rPr>
              <a:t>career brand</a:t>
            </a:r>
            <a:r>
              <a:rPr lang="en-US">
                <a:solidFill>
                  <a:schemeClr val="dk1"/>
                </a:solidFill>
              </a:rPr>
              <a:t> actually is — not in the marketing sense, but in the practical, day-to-day sense of how your work gets seen, trusted, and remembered.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Second, we’ll go over </a:t>
            </a:r>
            <a:r>
              <a:rPr b="1" lang="en-US">
                <a:solidFill>
                  <a:schemeClr val="dk1"/>
                </a:solidFill>
              </a:rPr>
              <a:t>five habits</a:t>
            </a:r>
            <a:r>
              <a:rPr lang="en-US">
                <a:solidFill>
                  <a:schemeClr val="dk1"/>
                </a:solidFill>
              </a:rPr>
              <a:t> that help you grow visibility, trust, and impact — the same three ingredients that make your work scale beyond effort.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Third, we’ll look at some </a:t>
            </a:r>
            <a:r>
              <a:rPr b="1" lang="en-US">
                <a:solidFill>
                  <a:schemeClr val="dk1"/>
                </a:solidFill>
              </a:rPr>
              <a:t>tools</a:t>
            </a:r>
            <a:r>
              <a:rPr lang="en-US">
                <a:solidFill>
                  <a:schemeClr val="dk1"/>
                </a:solidFill>
              </a:rPr>
              <a:t> that can amplify your work — things like portfolios, wikis, and side projects that make your contributions visible to more people.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And finally, we’ll end with a short </a:t>
            </a:r>
            <a:r>
              <a:rPr b="1" lang="en-US">
                <a:solidFill>
                  <a:schemeClr val="dk1"/>
                </a:solidFill>
              </a:rPr>
              <a:t>work session</a:t>
            </a:r>
            <a:r>
              <a:rPr lang="en-US">
                <a:solidFill>
                  <a:schemeClr val="dk1"/>
                </a:solidFill>
              </a:rPr>
              <a:t> — something interactive where you’ll get to define your own career brand using a quick reflection exercise.</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By the end, my goal is for you to walk away not just with ideas, but with a simple framework you can actually use to grow your career starting today.</a:t>
            </a:r>
            <a:endParaRPr/>
          </a:p>
        </p:txBody>
      </p:sp>
      <p:sp>
        <p:nvSpPr>
          <p:cNvPr id="76" name="Google Shape;7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Here’s how we’re going to spend our time today.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We’ll start with the </a:t>
            </a:r>
            <a:r>
              <a:rPr b="1" lang="en-US">
                <a:solidFill>
                  <a:schemeClr val="dk1"/>
                </a:solidFill>
              </a:rPr>
              <a:t>Foundations</a:t>
            </a:r>
            <a:r>
              <a:rPr lang="en-US">
                <a:solidFill>
                  <a:schemeClr val="dk1"/>
                </a:solidFill>
              </a:rPr>
              <a:t>, where I’ll make the case for why career branding matters — and why the old model of ‘work hard and wait to be noticed’ doesn’t really work anymore.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we’ll move into </a:t>
            </a:r>
            <a:r>
              <a:rPr b="1" lang="en-US">
                <a:solidFill>
                  <a:schemeClr val="dk1"/>
                </a:solidFill>
              </a:rPr>
              <a:t>Habits</a:t>
            </a:r>
            <a:r>
              <a:rPr lang="en-US">
                <a:solidFill>
                  <a:schemeClr val="dk1"/>
                </a:solidFill>
              </a:rPr>
              <a:t> — five specific, practical things you can start doing right now to grow your visibility, trust, and impact.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After that, we’ll cover </a:t>
            </a:r>
            <a:r>
              <a:rPr b="1" lang="en-US">
                <a:solidFill>
                  <a:schemeClr val="dk1"/>
                </a:solidFill>
              </a:rPr>
              <a:t>Tools</a:t>
            </a:r>
            <a:r>
              <a:rPr lang="en-US">
                <a:solidFill>
                  <a:schemeClr val="dk1"/>
                </a:solidFill>
              </a:rPr>
              <a:t> — the systems and platforms that help your brand scale, from portfolios and wikis to analytics and feedback loops.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we’ll get hands-on with a short </a:t>
            </a:r>
            <a:r>
              <a:rPr b="1" lang="en-US">
                <a:solidFill>
                  <a:schemeClr val="dk1"/>
                </a:solidFill>
              </a:rPr>
              <a:t>Worksession</a:t>
            </a:r>
            <a:r>
              <a:rPr lang="en-US">
                <a:solidFill>
                  <a:schemeClr val="dk1"/>
                </a:solidFill>
              </a:rPr>
              <a:t>, where you’ll define your own career brand in a quick, mad-lib-style exercise.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And finally, we’ll wrap with </a:t>
            </a:r>
            <a:r>
              <a:rPr b="1" lang="en-US">
                <a:solidFill>
                  <a:schemeClr val="dk1"/>
                </a:solidFill>
              </a:rPr>
              <a:t>Q&amp;A</a:t>
            </a:r>
            <a:r>
              <a:rPr lang="en-US">
                <a:solidFill>
                  <a:schemeClr val="dk1"/>
                </a:solidFill>
              </a:rPr>
              <a:t>, so you can ask about anything we cover — or even about career growth in general.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goal is to keep this interactive and useful, so don’t hesitate to participate or share thoughts along the way.</a:t>
            </a:r>
            <a:endParaRPr>
              <a:solidFill>
                <a:schemeClr val="dk1"/>
              </a:solidFill>
            </a:endParaRPr>
          </a:p>
          <a:p>
            <a:pPr indent="0" lvl="0" marL="0" rtl="0" algn="l">
              <a:spcBef>
                <a:spcPts val="1200"/>
              </a:spcBef>
              <a:spcAft>
                <a:spcPts val="0"/>
              </a:spcAft>
              <a:buNone/>
            </a:pPr>
            <a:r>
              <a:t/>
            </a:r>
            <a:endParaRPr/>
          </a:p>
        </p:txBody>
      </p:sp>
      <p:sp>
        <p:nvSpPr>
          <p:cNvPr id="83" name="Google Shape;8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6cdcb6ff9a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6cdcb6ff9a_0_2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“Alright, quick poll for you all. Think about your future career — what do you believe really drives promotions and growth?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Is it </a:t>
            </a:r>
            <a:r>
              <a:rPr i="1" lang="en-US">
                <a:solidFill>
                  <a:schemeClr val="dk1"/>
                </a:solidFill>
              </a:rPr>
              <a:t>hard work</a:t>
            </a:r>
            <a:r>
              <a:rPr lang="en-US">
                <a:solidFill>
                  <a:schemeClr val="dk1"/>
                </a:solidFill>
              </a:rPr>
              <a:t>? Is it </a:t>
            </a:r>
            <a:r>
              <a:rPr i="1" lang="en-US">
                <a:solidFill>
                  <a:schemeClr val="dk1"/>
                </a:solidFill>
              </a:rPr>
              <a:t>networking and relationships</a:t>
            </a:r>
            <a:r>
              <a:rPr lang="en-US">
                <a:solidFill>
                  <a:schemeClr val="dk1"/>
                </a:solidFill>
              </a:rPr>
              <a:t>? Is it </a:t>
            </a:r>
            <a:r>
              <a:rPr i="1" lang="en-US">
                <a:solidFill>
                  <a:schemeClr val="dk1"/>
                </a:solidFill>
              </a:rPr>
              <a:t>visibility of contributions</a:t>
            </a:r>
            <a:r>
              <a:rPr lang="en-US">
                <a:solidFill>
                  <a:schemeClr val="dk1"/>
                </a:solidFill>
              </a:rPr>
              <a:t>? Or is it just </a:t>
            </a:r>
            <a:r>
              <a:rPr i="1" lang="en-US">
                <a:solidFill>
                  <a:schemeClr val="dk1"/>
                </a:solidFill>
              </a:rPr>
              <a:t>luck</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Take a moment and vote — no wrong answers here, I’m curious how this group sees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[After showing poll results]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“Now, here’s the reality: hard work is important, but by itself, it’s often invisible. Networking helps, but it’s limited to who you know. Luck plays a role, but you can’t plan for it.</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What consistently makes the difference is </a:t>
            </a:r>
            <a:r>
              <a:rPr b="1" lang="en-US">
                <a:solidFill>
                  <a:schemeClr val="dk1"/>
                </a:solidFill>
              </a:rPr>
              <a:t>visibility plus trust plus impact</a:t>
            </a:r>
            <a:r>
              <a:rPr lang="en-US">
                <a:solidFill>
                  <a:schemeClr val="dk1"/>
                </a:solidFill>
              </a:rPr>
              <a:t>. When people see your work, trust its quality, and feel its impact — that’s when your career scales. That’s the foundation of your career brand.</a:t>
            </a:r>
            <a:r>
              <a:rPr lang="en-US">
                <a:solidFill>
                  <a:schemeClr val="dk1"/>
                </a:solidFill>
              </a:rPr>
              <a:t>”</a:t>
            </a:r>
            <a:endParaRPr/>
          </a:p>
        </p:txBody>
      </p:sp>
      <p:sp>
        <p:nvSpPr>
          <p:cNvPr id="97" name="Google Shape;9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When we think about careers, most of us are taught that if you just work hard, people will notice and opportunities will follow. But the truth is, hard work by itself is often invisible. Effort only really scales when others can actually see it.</a:t>
            </a:r>
            <a:endParaRPr/>
          </a:p>
          <a:p>
            <a:pPr indent="0" lvl="0" marL="0" rtl="0" algn="l">
              <a:lnSpc>
                <a:spcPct val="115000"/>
              </a:lnSpc>
              <a:spcBef>
                <a:spcPts val="1200"/>
              </a:spcBef>
              <a:spcAft>
                <a:spcPts val="0"/>
              </a:spcAft>
              <a:buClr>
                <a:schemeClr val="dk1"/>
              </a:buClr>
              <a:buSzPts val="1100"/>
              <a:buFont typeface="Arial"/>
              <a:buNone/>
            </a:pPr>
            <a:r>
              <a:rPr lang="en-US"/>
              <a:t>The second point is that recognition fuels growth. Promotions, new projects, leadership opportunities — they don’t just come from output, they come when colleagues and leaders recognize your impact and trust your contributions.</a:t>
            </a:r>
            <a:endParaRPr/>
          </a:p>
          <a:p>
            <a:pPr indent="0" lvl="0" marL="0" rtl="0" algn="l">
              <a:lnSpc>
                <a:spcPct val="115000"/>
              </a:lnSpc>
              <a:spcBef>
                <a:spcPts val="1200"/>
              </a:spcBef>
              <a:spcAft>
                <a:spcPts val="0"/>
              </a:spcAft>
              <a:buClr>
                <a:schemeClr val="dk1"/>
              </a:buClr>
              <a:buSzPts val="1100"/>
              <a:buFont typeface="Arial"/>
              <a:buNone/>
            </a:pPr>
            <a:r>
              <a:rPr lang="en-US"/>
              <a:t>Finally, branding isn’t about flashy self-promotion. It’s really your reputation system. The habits you build — documenting, sharing, teaching, automating — all compound over time. That compounding effect creates visibility, builds trust, and opens doors. Career branding is what turns hard work into lasting opportunity.</a:t>
            </a:r>
            <a:endParaRPr/>
          </a:p>
          <a:p>
            <a:pPr indent="0" lvl="0" marL="0" rtl="0" algn="l">
              <a:spcBef>
                <a:spcPts val="120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Careers don’t look the way they used to.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we’re working on </a:t>
            </a:r>
            <a:r>
              <a:rPr b="1" lang="en-US">
                <a:solidFill>
                  <a:schemeClr val="dk1"/>
                </a:solidFill>
              </a:rPr>
              <a:t>remote and global teams</a:t>
            </a:r>
            <a:r>
              <a:rPr lang="en-US">
                <a:solidFill>
                  <a:schemeClr val="dk1"/>
                </a:solidFill>
              </a:rPr>
              <a:t>. That means your manager or teammates don’t always see you working hard — there’s less in-person recognition. If you want your contributions noticed, you have to be intentional about making them visible.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Second, we have </a:t>
            </a:r>
            <a:r>
              <a:rPr b="1" lang="en-US">
                <a:solidFill>
                  <a:schemeClr val="dk1"/>
                </a:solidFill>
              </a:rPr>
              <a:t>open-source and digital communities</a:t>
            </a:r>
            <a:r>
              <a:rPr lang="en-US">
                <a:solidFill>
                  <a:schemeClr val="dk1"/>
                </a:solidFill>
              </a:rPr>
              <a:t>. Today, you can share your work beyond just your company. Contributing online or publishing something small can reach people worldwide — visibility scales in ways it never used to.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Third, companies now run with </a:t>
            </a:r>
            <a:r>
              <a:rPr b="1" lang="en-US">
                <a:solidFill>
                  <a:schemeClr val="dk1"/>
                </a:solidFill>
              </a:rPr>
              <a:t>flatter org charts</a:t>
            </a:r>
            <a:r>
              <a:rPr lang="en-US">
                <a:solidFill>
                  <a:schemeClr val="dk1"/>
                </a:solidFill>
              </a:rPr>
              <a:t>. There are fewer layers of management and fewer automatic promotions just for time served. Tenure alone isn’t enough anymore — growth depends on showing real impact.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And finally, </a:t>
            </a:r>
            <a:r>
              <a:rPr b="1" lang="en-US">
                <a:solidFill>
                  <a:schemeClr val="dk1"/>
                </a:solidFill>
              </a:rPr>
              <a:t>skills evolve so quickly</a:t>
            </a:r>
            <a:r>
              <a:rPr lang="en-US">
                <a:solidFill>
                  <a:schemeClr val="dk1"/>
                </a:solidFill>
              </a:rPr>
              <a:t> that what you know today might not be enough tomorrow. Continuous learning isn’t optional — it’s how you stay relevant and valuable.</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Put simply: the old model of ‘work hard, wait, and eventually get promoted’ doesn’t hold up in this environment. Visibility, adaptability, and impact are what matter now.</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6cdcb6ff9a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One of the strongest signals that the old career model doesn’t work is the data we see today.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the </a:t>
            </a:r>
            <a:r>
              <a:rPr b="1" lang="en-US">
                <a:solidFill>
                  <a:schemeClr val="dk1"/>
                </a:solidFill>
              </a:rPr>
              <a:t>average time to promotion has gotten longer</a:t>
            </a:r>
            <a:r>
              <a:rPr lang="en-US">
                <a:solidFill>
                  <a:schemeClr val="dk1"/>
                </a:solidFill>
              </a:rPr>
              <a:t>. A decade ago, promotions happened roughly every two and a half years. Today, it’s closer to four years. That means waiting around for recognition by tenure alone is a slower path than ever.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Second, research shows that </a:t>
            </a:r>
            <a:r>
              <a:rPr b="1" lang="en-US">
                <a:solidFill>
                  <a:schemeClr val="dk1"/>
                </a:solidFill>
              </a:rPr>
              <a:t>70 percent or more of jobs are filled through networking or the hidden job market</a:t>
            </a:r>
            <a:r>
              <a:rPr lang="en-US">
                <a:solidFill>
                  <a:schemeClr val="dk1"/>
                </a:solidFill>
              </a:rPr>
              <a:t>. In other words, most opportunities never even get posted publicly. They’re filled by people who already have visibility and trust within their networks.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Third, studies from Harvard Business Review highlight that </a:t>
            </a:r>
            <a:r>
              <a:rPr b="1" lang="en-US">
                <a:solidFill>
                  <a:schemeClr val="dk1"/>
                </a:solidFill>
              </a:rPr>
              <a:t>visibility and sponsorship often outweigh performance alone</a:t>
            </a:r>
            <a:r>
              <a:rPr lang="en-US">
                <a:solidFill>
                  <a:schemeClr val="dk1"/>
                </a:solidFill>
              </a:rPr>
              <a:t>. It’s not just about doing the work — it’s about making sure others see it, trust it, and are willing to back you for bigger opportunities.</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So the evidence is clear: hard work is still important, but without career branding — without visibility, trust, and impact — it doesn’t scale into growth.</a:t>
            </a:r>
            <a:endParaRPr/>
          </a:p>
        </p:txBody>
      </p:sp>
      <p:sp>
        <p:nvSpPr>
          <p:cNvPr id="118" name="Google Shape;118;g36cdcb6ff9a_0_5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sz="1300">
                <a:solidFill>
                  <a:schemeClr val="dk1"/>
                </a:solidFill>
              </a:rPr>
              <a:t>Visibility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What it means:</a:t>
            </a:r>
            <a:r>
              <a:rPr lang="en-US">
                <a:solidFill>
                  <a:schemeClr val="dk1"/>
                </a:solidFill>
              </a:rPr>
              <a:t> People know what you do and the value you bring.</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How to build it:</a:t>
            </a:r>
            <a:r>
              <a:rPr lang="en-US">
                <a:solidFill>
                  <a:schemeClr val="dk1"/>
                </a:solidFill>
              </a:rPr>
              <a:t> Documentation, talks, wikis, blogs, side projects, sharing progress.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Why it matters:</a:t>
            </a:r>
            <a:r>
              <a:rPr lang="en-US">
                <a:solidFill>
                  <a:schemeClr val="dk1"/>
                </a:solidFill>
              </a:rPr>
              <a:t> If no one sees your contributions, they don’t scale. Visibility is the entry point.</a:t>
            </a:r>
            <a:br>
              <a:rPr lang="en-US">
                <a:solidFill>
                  <a:schemeClr val="dk1"/>
                </a:solidFill>
              </a:rPr>
            </a:b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US" sz="1300">
                <a:solidFill>
                  <a:schemeClr val="dk1"/>
                </a:solidFill>
              </a:rPr>
              <a:t>Trust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What it means:</a:t>
            </a:r>
            <a:r>
              <a:rPr lang="en-US">
                <a:solidFill>
                  <a:schemeClr val="dk1"/>
                </a:solidFill>
              </a:rPr>
              <a:t> People believe your work is reliable, consistent, and thoughtful.</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How to build it:</a:t>
            </a:r>
            <a:r>
              <a:rPr lang="en-US">
                <a:solidFill>
                  <a:schemeClr val="dk1"/>
                </a:solidFill>
              </a:rPr>
              <a:t> Deliver quality consistently, share context, document trade-offs, mentor others.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Why it matters:</a:t>
            </a:r>
            <a:r>
              <a:rPr lang="en-US">
                <a:solidFill>
                  <a:schemeClr val="dk1"/>
                </a:solidFill>
              </a:rPr>
              <a:t> Visibility without trust is noise. Trust turns visibility into credibility.</a:t>
            </a:r>
            <a:br>
              <a:rPr lang="en-US">
                <a:solidFill>
                  <a:schemeClr val="dk1"/>
                </a:solidFill>
              </a:rPr>
            </a:b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US" sz="1300">
                <a:solidFill>
                  <a:schemeClr val="dk1"/>
                </a:solidFill>
              </a:rPr>
              <a:t>Impact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What it means:</a:t>
            </a:r>
            <a:r>
              <a:rPr lang="en-US">
                <a:solidFill>
                  <a:schemeClr val="dk1"/>
                </a:solidFill>
              </a:rPr>
              <a:t> The measurable difference your work makes.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How to build it:</a:t>
            </a:r>
            <a:r>
              <a:rPr lang="en-US">
                <a:solidFill>
                  <a:schemeClr val="dk1"/>
                </a:solidFill>
              </a:rPr>
              <a:t> Automate pain points, create tools others adopt, improve systems, save time or money.</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Why it matters:</a:t>
            </a:r>
            <a:r>
              <a:rPr lang="en-US">
                <a:solidFill>
                  <a:schemeClr val="dk1"/>
                </a:solidFill>
              </a:rPr>
              <a:t> Impact shows that your work isn’t just activity — it moves the needle for others.</a:t>
            </a:r>
            <a:endParaRPr/>
          </a:p>
        </p:txBody>
      </p:sp>
      <p:sp>
        <p:nvSpPr>
          <p:cNvPr id="125" name="Google Shape;12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cdcb6ff9a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6cdcb6ff9a_0_2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cdcb6ff9a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Okay, let’s do a quick check-in. How many of you have actually written documentation before?</a:t>
            </a:r>
            <a:endParaRPr/>
          </a:p>
          <a:p>
            <a:pPr indent="0" lvl="0" marL="0" rtl="0" algn="l">
              <a:lnSpc>
                <a:spcPct val="115000"/>
              </a:lnSpc>
              <a:spcBef>
                <a:spcPts val="1200"/>
              </a:spcBef>
              <a:spcAft>
                <a:spcPts val="0"/>
              </a:spcAft>
              <a:buClr>
                <a:schemeClr val="dk1"/>
              </a:buClr>
              <a:buSzPts val="1100"/>
              <a:buFont typeface="Arial"/>
              <a:buNone/>
            </a:pPr>
            <a:r>
              <a:rPr lang="en-US"/>
              <a:t>This could be anything — class notes you shared with a group project, a readme for code you posted, even instructions you left for someone covering your shift at work.</a:t>
            </a:r>
            <a:endParaRPr/>
          </a:p>
          <a:p>
            <a:pPr indent="0" lvl="0" marL="0" rtl="0" algn="l">
              <a:lnSpc>
                <a:spcPct val="115000"/>
              </a:lnSpc>
              <a:spcBef>
                <a:spcPts val="1200"/>
              </a:spcBef>
              <a:spcAft>
                <a:spcPts val="0"/>
              </a:spcAft>
              <a:buClr>
                <a:schemeClr val="dk1"/>
              </a:buClr>
              <a:buSzPts val="1100"/>
              <a:buFont typeface="Arial"/>
              <a:buNone/>
            </a:pPr>
            <a:r>
              <a:rPr lang="en-US"/>
              <a:t>Take a moment to vote.</a:t>
            </a:r>
            <a:endParaRPr/>
          </a:p>
          <a:p>
            <a:pPr indent="0" lvl="0" marL="0" rtl="0" algn="l">
              <a:lnSpc>
                <a:spcPct val="115000"/>
              </a:lnSpc>
              <a:spcBef>
                <a:spcPts val="1200"/>
              </a:spcBef>
              <a:spcAft>
                <a:spcPts val="0"/>
              </a:spcAft>
              <a:buClr>
                <a:schemeClr val="dk1"/>
              </a:buClr>
              <a:buSzPts val="1100"/>
              <a:buFont typeface="Arial"/>
              <a:buNone/>
            </a:pPr>
            <a:r>
              <a:rPr lang="en-US"/>
              <a:t>[Pause for responses]</a:t>
            </a:r>
            <a:endParaRPr/>
          </a:p>
          <a:p>
            <a:pPr indent="0" lvl="0" marL="0" rtl="0" algn="l">
              <a:lnSpc>
                <a:spcPct val="115000"/>
              </a:lnSpc>
              <a:spcBef>
                <a:spcPts val="1200"/>
              </a:spcBef>
              <a:spcAft>
                <a:spcPts val="0"/>
              </a:spcAft>
              <a:buClr>
                <a:schemeClr val="dk1"/>
              </a:buClr>
              <a:buSzPts val="1100"/>
              <a:buFont typeface="Arial"/>
              <a:buNone/>
            </a:pPr>
            <a:r>
              <a:rPr lang="en-US"/>
              <a:t>See, almost everyone has done some form of documentation, even if you didn’t call it that. The point is — you’re already practicing one of the key habits of career branding. The difference is, when you make it intentional and consistent, documentation goes from something that helps a few classmates to something that builds your visibility and trust at scale</a:t>
            </a:r>
            <a:endParaRPr/>
          </a:p>
          <a:p>
            <a:pPr indent="0" lvl="0" marL="0" rtl="0" algn="l">
              <a:spcBef>
                <a:spcPts val="1200"/>
              </a:spcBef>
              <a:spcAft>
                <a:spcPts val="0"/>
              </a:spcAft>
              <a:buNone/>
            </a:pPr>
            <a:r>
              <a:t/>
            </a:r>
            <a:endParaRPr/>
          </a:p>
        </p:txBody>
      </p:sp>
      <p:sp>
        <p:nvSpPr>
          <p:cNvPr id="147" name="Google Shape;147;g36cdcb6ff9a_0_3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“One of the fastest ways to scale your career brand is through documentation. When you write something down in a way that outlasts you, it becomes reusable — it saves others time, and it keeps adding value long after you’ve moved on.</a:t>
            </a:r>
            <a:endParaRPr/>
          </a:p>
          <a:p>
            <a:pPr indent="0" lvl="0" marL="0" rtl="0" algn="l">
              <a:lnSpc>
                <a:spcPct val="115000"/>
              </a:lnSpc>
              <a:spcBef>
                <a:spcPts val="1200"/>
              </a:spcBef>
              <a:spcAft>
                <a:spcPts val="0"/>
              </a:spcAft>
              <a:buClr>
                <a:schemeClr val="dk1"/>
              </a:buClr>
              <a:buSzPts val="1100"/>
              <a:buFont typeface="Arial"/>
              <a:buNone/>
            </a:pPr>
            <a:r>
              <a:rPr lang="en-US"/>
              <a:t>There are different types of documentation, each with a different purpose. Wikis, for example, are living knowledge bases. They capture FAQs and how-tos in one searchable, collaborative place. Playbooks are about strategies — they help teams make consistent decisions.</a:t>
            </a:r>
            <a:endParaRPr/>
          </a:p>
          <a:p>
            <a:pPr indent="0" lvl="0" marL="0" rtl="0" algn="l">
              <a:lnSpc>
                <a:spcPct val="115000"/>
              </a:lnSpc>
              <a:spcBef>
                <a:spcPts val="1200"/>
              </a:spcBef>
              <a:spcAft>
                <a:spcPts val="0"/>
              </a:spcAft>
              <a:buClr>
                <a:schemeClr val="dk1"/>
              </a:buClr>
              <a:buSzPts val="1100"/>
              <a:buFont typeface="Arial"/>
              <a:buNone/>
            </a:pPr>
            <a:r>
              <a:rPr lang="en-US"/>
              <a:t>Runbooks are more operational — step-by-step guides that anyone can follow reliably. Postmortems capture what happened after a failure, so teams can learn and prevent it in the future.</a:t>
            </a:r>
            <a:endParaRPr/>
          </a:p>
          <a:p>
            <a:pPr indent="0" lvl="0" marL="0" rtl="0" algn="l">
              <a:lnSpc>
                <a:spcPct val="115000"/>
              </a:lnSpc>
              <a:spcBef>
                <a:spcPts val="1200"/>
              </a:spcBef>
              <a:spcAft>
                <a:spcPts val="0"/>
              </a:spcAft>
              <a:buClr>
                <a:schemeClr val="dk1"/>
              </a:buClr>
              <a:buSzPts val="1100"/>
              <a:buFont typeface="Arial"/>
              <a:buNone/>
            </a:pPr>
            <a:r>
              <a:rPr lang="en-US"/>
              <a:t>API references and design docs serve a different purpose — they preserve technical details and decision trade-offs so others can adopt or extend your work without guessing. Onboarding guides make it easier for new hires to get up to speed quickly, scaling mentorship. And finally, production support documentation — like on-call handbooks and rotation guides — ensures reliability when it matters most.</a:t>
            </a:r>
            <a:endParaRPr/>
          </a:p>
          <a:p>
            <a:pPr indent="0" lvl="0" marL="0" rtl="0" algn="l">
              <a:lnSpc>
                <a:spcPct val="115000"/>
              </a:lnSpc>
              <a:spcBef>
                <a:spcPts val="1200"/>
              </a:spcBef>
              <a:spcAft>
                <a:spcPts val="1200"/>
              </a:spcAft>
              <a:buNone/>
            </a:pPr>
            <a:r>
              <a:rPr lang="en-US"/>
              <a:t>Each of these document types not only saves time and prevents mistakes, they also make your contributions visible. People start associating you with clarity and leadership, which builds trust and impact. That’s why documentation is such a powerful habit — it’s one of the simplest ways to create a career brand that keeps working for you.</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habit is all about depth. A lot of early-career professionals try to spread themselves thin across every new tool and technology. But the real value comes when you pick one system, own it, and really deepen your knowledge.</a:t>
            </a:r>
            <a:endParaRPr/>
          </a:p>
          <a:p>
            <a:pPr indent="0" lvl="0" marL="0" rtl="0" algn="l">
              <a:lnSpc>
                <a:spcPct val="115000"/>
              </a:lnSpc>
              <a:spcBef>
                <a:spcPts val="1200"/>
              </a:spcBef>
              <a:spcAft>
                <a:spcPts val="0"/>
              </a:spcAft>
              <a:buClr>
                <a:schemeClr val="dk1"/>
              </a:buClr>
              <a:buSzPts val="1100"/>
              <a:buFont typeface="Arial"/>
              <a:buNone/>
            </a:pPr>
            <a:r>
              <a:rPr lang="en-US"/>
              <a:t>Why does that matter? Because specialists are magnets for trust and visibility. When a problem comes up in that system, people know exactly who to turn to — and that visibility is priceless.</a:t>
            </a:r>
            <a:endParaRPr/>
          </a:p>
          <a:p>
            <a:pPr indent="0" lvl="0" marL="0" rtl="0" algn="l">
              <a:lnSpc>
                <a:spcPct val="115000"/>
              </a:lnSpc>
              <a:spcBef>
                <a:spcPts val="1200"/>
              </a:spcBef>
              <a:spcAft>
                <a:spcPts val="0"/>
              </a:spcAft>
              <a:buClr>
                <a:schemeClr val="dk1"/>
              </a:buClr>
              <a:buSzPts val="1100"/>
              <a:buFont typeface="Arial"/>
              <a:buNone/>
            </a:pPr>
            <a:r>
              <a:rPr lang="en-US"/>
              <a:t>What does this look like in practice? You become the ‘go-to’ person when questions arise. People come to you not just for quick answers, but for context, for trade-offs, and for guidance on how to move forward.</a:t>
            </a:r>
            <a:endParaRPr/>
          </a:p>
          <a:p>
            <a:pPr indent="0" lvl="0" marL="0" rtl="0" algn="l">
              <a:lnSpc>
                <a:spcPct val="115000"/>
              </a:lnSpc>
              <a:spcBef>
                <a:spcPts val="1200"/>
              </a:spcBef>
              <a:spcAft>
                <a:spcPts val="0"/>
              </a:spcAft>
              <a:buClr>
                <a:schemeClr val="dk1"/>
              </a:buClr>
              <a:buSzPts val="1100"/>
              <a:buFont typeface="Arial"/>
              <a:buNone/>
            </a:pPr>
            <a:r>
              <a:rPr lang="en-US"/>
              <a:t>How do you build that? Study deeply. Don’t just learn how the system works today — learn its history, why it was designed that way, and where its weak points are. Know the edge cases, the failure modes, the trade-offs behind past decisions.</a:t>
            </a:r>
            <a:endParaRPr/>
          </a:p>
          <a:p>
            <a:pPr indent="0" lvl="0" marL="0" rtl="0" algn="l">
              <a:lnSpc>
                <a:spcPct val="115000"/>
              </a:lnSpc>
              <a:spcBef>
                <a:spcPts val="1200"/>
              </a:spcBef>
              <a:spcAft>
                <a:spcPts val="0"/>
              </a:spcAft>
              <a:buClr>
                <a:schemeClr val="dk1"/>
              </a:buClr>
              <a:buSzPts val="1100"/>
              <a:buFont typeface="Arial"/>
              <a:buNone/>
            </a:pPr>
            <a:r>
              <a:rPr lang="en-US"/>
              <a:t>Proof of expertise comes in how you share that knowledge. Document your findings, answer questions in channels or meetings, and lead knowledge-sharing sessions. It’s not enough to know — you have to make your expertise visible.</a:t>
            </a:r>
            <a:endParaRPr/>
          </a:p>
          <a:p>
            <a:pPr indent="0" lvl="0" marL="0" rtl="0" algn="l">
              <a:lnSpc>
                <a:spcPct val="115000"/>
              </a:lnSpc>
              <a:spcBef>
                <a:spcPts val="1200"/>
              </a:spcBef>
              <a:spcAft>
                <a:spcPts val="1200"/>
              </a:spcAft>
              <a:buNone/>
            </a:pPr>
            <a:r>
              <a:rPr lang="en-US"/>
              <a:t>The career impact is huge. Being an SME often opens doors to leadership roles, mentorship opportunities, and recognition. It shows that you’re not just another contributor, but someone who anchors knowledge in the organization and scales it for others.</a:t>
            </a:r>
            <a:endParaRPr/>
          </a:p>
        </p:txBody>
      </p:sp>
      <p:sp>
        <p:nvSpPr>
          <p:cNvPr id="161" name="Google Shape;16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habit is about turning your knowledge into something that scales. Teaching others doesn’t just help them — it actually amplifies your own expertise and positions you as a leader.</a:t>
            </a:r>
            <a:endParaRPr/>
          </a:p>
          <a:p>
            <a:pPr indent="0" lvl="0" marL="0" rtl="0" algn="l">
              <a:lnSpc>
                <a:spcPct val="115000"/>
              </a:lnSpc>
              <a:spcBef>
                <a:spcPts val="1200"/>
              </a:spcBef>
              <a:spcAft>
                <a:spcPts val="0"/>
              </a:spcAft>
              <a:buClr>
                <a:schemeClr val="dk1"/>
              </a:buClr>
              <a:buSzPts val="1100"/>
              <a:buFont typeface="Arial"/>
              <a:buNone/>
            </a:pPr>
            <a:r>
              <a:rPr lang="en-US"/>
              <a:t>Why does it matter? Because when you teach, you make your work visible. You show not only that you know something, but that you can explain it in a way others can use. That’s a huge signal of leadership.</a:t>
            </a:r>
            <a:endParaRPr/>
          </a:p>
          <a:p>
            <a:pPr indent="0" lvl="0" marL="0" rtl="0" algn="l">
              <a:lnSpc>
                <a:spcPct val="115000"/>
              </a:lnSpc>
              <a:spcBef>
                <a:spcPts val="1200"/>
              </a:spcBef>
              <a:spcAft>
                <a:spcPts val="0"/>
              </a:spcAft>
              <a:buClr>
                <a:schemeClr val="dk1"/>
              </a:buClr>
              <a:buSzPts val="1100"/>
              <a:buFont typeface="Arial"/>
              <a:buNone/>
            </a:pPr>
            <a:r>
              <a:rPr lang="en-US"/>
              <a:t>What does this look like? It can be as simple as running a short workshop, giving a lightning talk, or leading a brown-bag session. The goal isn’t to be perfect — the goal is to help your peers solve problems.</a:t>
            </a:r>
            <a:endParaRPr/>
          </a:p>
          <a:p>
            <a:pPr indent="0" lvl="0" marL="0" rtl="0" algn="l">
              <a:lnSpc>
                <a:spcPct val="115000"/>
              </a:lnSpc>
              <a:spcBef>
                <a:spcPts val="1200"/>
              </a:spcBef>
              <a:spcAft>
                <a:spcPts val="0"/>
              </a:spcAft>
              <a:buClr>
                <a:schemeClr val="dk1"/>
              </a:buClr>
              <a:buSzPts val="1100"/>
              <a:buFont typeface="Arial"/>
              <a:buNone/>
            </a:pPr>
            <a:r>
              <a:rPr lang="en-US"/>
              <a:t>How do you build this habit? Start small. Share lessons learned from a project. Demo a tool you use every day that saves you time. It doesn’t need to be a big formal presentation. Small, consistent efforts compound over time.</a:t>
            </a:r>
            <a:endParaRPr/>
          </a:p>
          <a:p>
            <a:pPr indent="0" lvl="0" marL="0" rtl="0" algn="l">
              <a:lnSpc>
                <a:spcPct val="115000"/>
              </a:lnSpc>
              <a:spcBef>
                <a:spcPts val="1200"/>
              </a:spcBef>
              <a:spcAft>
                <a:spcPts val="0"/>
              </a:spcAft>
              <a:buClr>
                <a:schemeClr val="dk1"/>
              </a:buClr>
              <a:buSzPts val="1100"/>
              <a:buFont typeface="Arial"/>
              <a:buNone/>
            </a:pPr>
            <a:r>
              <a:rPr lang="en-US"/>
              <a:t>Proof of expertise comes in what you leave behind: your slides, a recording, or even just notes that others can revisit later. That’s what transforms a one-time talk into something reusable.</a:t>
            </a:r>
            <a:endParaRPr/>
          </a:p>
          <a:p>
            <a:pPr indent="0" lvl="0" marL="0" rtl="0" algn="l">
              <a:lnSpc>
                <a:spcPct val="115000"/>
              </a:lnSpc>
              <a:spcBef>
                <a:spcPts val="1200"/>
              </a:spcBef>
              <a:spcAft>
                <a:spcPts val="1200"/>
              </a:spcAft>
              <a:buNone/>
            </a:pPr>
            <a:r>
              <a:rPr lang="en-US"/>
              <a:t>And the career impact is clear: every time you share knowledge, you gain visibility, you establish yourself as a leader, and you create lasting influence in your organization or community. People remember the person who helped them level up.</a:t>
            </a:r>
            <a:endParaRPr/>
          </a:p>
        </p:txBody>
      </p:sp>
      <p:sp>
        <p:nvSpPr>
          <p:cNvPr id="168" name="Google Shape;16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habit is about looking for inefficiencies and turning them into opportunities. Repetitive tasks waste time, energy, and attention across teams. If you’re the one who steps in and says, ‘Let’s automate this,’ you instantly multiply your value.</a:t>
            </a:r>
            <a:endParaRPr/>
          </a:p>
          <a:p>
            <a:pPr indent="0" lvl="0" marL="0" rtl="0" algn="l">
              <a:lnSpc>
                <a:spcPct val="115000"/>
              </a:lnSpc>
              <a:spcBef>
                <a:spcPts val="1200"/>
              </a:spcBef>
              <a:spcAft>
                <a:spcPts val="0"/>
              </a:spcAft>
              <a:buClr>
                <a:schemeClr val="dk1"/>
              </a:buClr>
              <a:buSzPts val="1100"/>
              <a:buFont typeface="Arial"/>
              <a:buNone/>
            </a:pPr>
            <a:r>
              <a:rPr lang="en-US"/>
              <a:t>What does it look like? It could be as simple as writing a script that cleans up data, building a small dashboard that tracks system health, or creating a utility that eliminates a recurring bottleneck. These tools don’t have to be perfect or large-scale — often, the simplest ones create the biggest wins.</a:t>
            </a:r>
            <a:endParaRPr/>
          </a:p>
          <a:p>
            <a:pPr indent="0" lvl="0" marL="0" rtl="0" algn="l">
              <a:lnSpc>
                <a:spcPct val="115000"/>
              </a:lnSpc>
              <a:spcBef>
                <a:spcPts val="1200"/>
              </a:spcBef>
              <a:spcAft>
                <a:spcPts val="0"/>
              </a:spcAft>
              <a:buClr>
                <a:schemeClr val="dk1"/>
              </a:buClr>
              <a:buSzPts val="1100"/>
              <a:buFont typeface="Arial"/>
              <a:buNone/>
            </a:pPr>
            <a:r>
              <a:rPr lang="en-US"/>
              <a:t>How do you build this habit? Start by identifying patterns. Ask yourself: what am I doing over and over? What’s something my team keeps repeating that could be automated? If it feels tedious, chances are it can be turned into a tool.</a:t>
            </a:r>
            <a:endParaRPr/>
          </a:p>
          <a:p>
            <a:pPr indent="0" lvl="0" marL="0" rtl="0" algn="l">
              <a:lnSpc>
                <a:spcPct val="115000"/>
              </a:lnSpc>
              <a:spcBef>
                <a:spcPts val="1200"/>
              </a:spcBef>
              <a:spcAft>
                <a:spcPts val="0"/>
              </a:spcAft>
              <a:buClr>
                <a:schemeClr val="dk1"/>
              </a:buClr>
              <a:buSzPts val="1100"/>
              <a:buFont typeface="Arial"/>
              <a:buNone/>
            </a:pPr>
            <a:r>
              <a:rPr lang="en-US"/>
              <a:t>Proof of expertise comes from adoption. When teammates start using your tool, when they save time because of something you built, that’s when your work becomes visible and trusted.</a:t>
            </a:r>
            <a:endParaRPr/>
          </a:p>
          <a:p>
            <a:pPr indent="0" lvl="0" marL="0" rtl="0" algn="l">
              <a:lnSpc>
                <a:spcPct val="115000"/>
              </a:lnSpc>
              <a:spcBef>
                <a:spcPts val="1200"/>
              </a:spcBef>
              <a:spcAft>
                <a:spcPts val="1200"/>
              </a:spcAft>
              <a:buNone/>
            </a:pPr>
            <a:r>
              <a:rPr lang="en-US"/>
              <a:t>And the career impact is powerful: automation scales your influence. One small tool can save hours for dozens of people. That kind of leverage is what makes your contributions stand out and creates a reputation for being the person who makes work better for everyone.</a:t>
            </a:r>
            <a:endParaRPr/>
          </a:p>
        </p:txBody>
      </p:sp>
      <p:sp>
        <p:nvSpPr>
          <p:cNvPr id="175" name="Google Shape;17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6cdcb6ff9a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last habit is about making sure all the effort you’re putting in is actually moving you in the direction you want to go. Effort without direction can lead to wasted growth. Reflection is what ensures your energy compounds in the right direction.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What does this look like? It means periodically taking a step back to review your progress. Adjust your learning path, re-check your priorities, and make sure your goals are aligned with where you ultimately want your career to go.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How do you build this habit? Set regular checkpoints. At the end of a semester or a big project, ask yourself: </a:t>
            </a:r>
            <a:r>
              <a:rPr i="1" lang="en-US">
                <a:solidFill>
                  <a:schemeClr val="dk1"/>
                </a:solidFill>
              </a:rPr>
              <a:t>Am I moving toward the role or the impact I want?</a:t>
            </a:r>
            <a:r>
              <a:rPr lang="en-US">
                <a:solidFill>
                  <a:schemeClr val="dk1"/>
                </a:solidFill>
              </a:rPr>
              <a:t> After an internship, look at which skills gave you the most energy and which ones stretched you the most. At the end of a project, jot down lessons learned and the gaps you still want to fill. And every six to twelve months, update your resume or portfolio to reflect what you’ve built — that exercise alone forces you to see your progress and your trajectory.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proof of this habit is clear progression. Over time, you can look back and see that your skills, projects, and direction have evolved. And the career impact is huge: reflection and adjustment prevent stagnation. They keep you aligned, growing, and ready for the next opportunity.</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Reflection is what turns habits into a strategy. Without it, you might be running hard but in the wrong direction.</a:t>
            </a:r>
            <a:endParaRPr/>
          </a:p>
        </p:txBody>
      </p:sp>
      <p:sp>
        <p:nvSpPr>
          <p:cNvPr id="182" name="Google Shape;182;g36cdcb6ff9a_0_3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6cdcb6ff9a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6cdcb6ff9a_0_3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6cdcb6ff9a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6cdcb6ff9a_0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Here’s another quick one — how many of you have a personal website?</a:t>
            </a:r>
            <a:endParaRPr/>
          </a:p>
          <a:p>
            <a:pPr indent="0" lvl="0" marL="0" rtl="0" algn="l">
              <a:lnSpc>
                <a:spcPct val="115000"/>
              </a:lnSpc>
              <a:spcBef>
                <a:spcPts val="1200"/>
              </a:spcBef>
              <a:spcAft>
                <a:spcPts val="0"/>
              </a:spcAft>
              <a:buClr>
                <a:schemeClr val="dk1"/>
              </a:buClr>
              <a:buSzPts val="1100"/>
              <a:buFont typeface="Arial"/>
              <a:buNone/>
            </a:pPr>
            <a:r>
              <a:rPr lang="en-US"/>
              <a:t>This could be anything from a full portfolio site, to a simple page with your resume, to even a GitHub Pages site.</a:t>
            </a:r>
            <a:endParaRPr/>
          </a:p>
          <a:p>
            <a:pPr indent="0" lvl="0" marL="0" rtl="0" algn="l">
              <a:lnSpc>
                <a:spcPct val="115000"/>
              </a:lnSpc>
              <a:spcBef>
                <a:spcPts val="1200"/>
              </a:spcBef>
              <a:spcAft>
                <a:spcPts val="0"/>
              </a:spcAft>
              <a:buClr>
                <a:schemeClr val="dk1"/>
              </a:buClr>
              <a:buSzPts val="1100"/>
              <a:buFont typeface="Arial"/>
              <a:buNone/>
            </a:pPr>
            <a:r>
              <a:rPr lang="en-US"/>
              <a:t>[Pause for responses]</a:t>
            </a:r>
            <a:endParaRPr/>
          </a:p>
          <a:p>
            <a:pPr indent="0" lvl="0" marL="0" rtl="0" algn="l">
              <a:lnSpc>
                <a:spcPct val="115000"/>
              </a:lnSpc>
              <a:spcBef>
                <a:spcPts val="1200"/>
              </a:spcBef>
              <a:spcAft>
                <a:spcPts val="0"/>
              </a:spcAft>
              <a:buClr>
                <a:schemeClr val="dk1"/>
              </a:buClr>
              <a:buSzPts val="1100"/>
              <a:buFont typeface="Arial"/>
              <a:buNone/>
            </a:pPr>
            <a:r>
              <a:rPr lang="en-US"/>
              <a:t>If you don’t have one yet, that’s okay — most people don’t start with one. But think about this: a personal website is like your digital home base. It’s the one place online where you control the story. Recruiters, hiring managers, even peers will look you up. When they do, what will they find?</a:t>
            </a:r>
            <a:endParaRPr/>
          </a:p>
          <a:p>
            <a:pPr indent="0" lvl="0" marL="0" rtl="0" algn="l">
              <a:lnSpc>
                <a:spcPct val="115000"/>
              </a:lnSpc>
              <a:spcBef>
                <a:spcPts val="1200"/>
              </a:spcBef>
              <a:spcAft>
                <a:spcPts val="0"/>
              </a:spcAft>
              <a:buClr>
                <a:schemeClr val="dk1"/>
              </a:buClr>
              <a:buSzPts val="1100"/>
              <a:buFont typeface="Arial"/>
              <a:buNone/>
            </a:pPr>
            <a:r>
              <a:rPr lang="en-US"/>
              <a:t>A personal site doesn’t have to be flashy. Even a simple site with your projects, resume, and a way to contact you already puts you ahead of the curve. It’s one of the simplest tools to make your career brand visible outside the classroom or the workplace.</a:t>
            </a:r>
            <a:endParaRPr/>
          </a:p>
          <a:p>
            <a:pPr indent="0" lvl="0" marL="0" rtl="0" algn="l">
              <a:spcBef>
                <a:spcPts val="1200"/>
              </a:spcBef>
              <a:spcAft>
                <a:spcPts val="0"/>
              </a:spcAft>
              <a:buNone/>
            </a:pPr>
            <a:r>
              <a:t/>
            </a:r>
            <a:endParaRPr/>
          </a:p>
        </p:txBody>
      </p:sp>
      <p:sp>
        <p:nvSpPr>
          <p:cNvPr id="205" name="Google Shape;20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where the tools come together. Think of it as your career tool ecosystem. Each tool plays a role, and together they create a system that compounds your visibility, trust, and impact.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Your </a:t>
            </a:r>
            <a:r>
              <a:rPr b="1" lang="en-US">
                <a:solidFill>
                  <a:schemeClr val="dk1"/>
                </a:solidFill>
              </a:rPr>
              <a:t>portfolio website</a:t>
            </a:r>
            <a:r>
              <a:rPr lang="en-US">
                <a:solidFill>
                  <a:schemeClr val="dk1"/>
                </a:solidFill>
              </a:rPr>
              <a:t> is your home base — it tells your story and showcases your work.</a:t>
            </a:r>
            <a:br>
              <a:rPr lang="en-US">
                <a:solidFill>
                  <a:schemeClr val="dk1"/>
                </a:solidFill>
              </a:rPr>
            </a:br>
            <a:r>
              <a:rPr lang="en-US">
                <a:solidFill>
                  <a:schemeClr val="dk1"/>
                </a:solidFill>
              </a:rPr>
              <a:t> Your </a:t>
            </a:r>
            <a:r>
              <a:rPr b="1" lang="en-US">
                <a:solidFill>
                  <a:schemeClr val="dk1"/>
                </a:solidFill>
              </a:rPr>
              <a:t>knowledge repository</a:t>
            </a:r>
            <a:r>
              <a:rPr lang="en-US">
                <a:solidFill>
                  <a:schemeClr val="dk1"/>
                </a:solidFill>
              </a:rPr>
              <a:t> is how you scale your expertise across teams and time — living documentation that outlasts you.</a:t>
            </a:r>
            <a:br>
              <a:rPr lang="en-US">
                <a:solidFill>
                  <a:schemeClr val="dk1"/>
                </a:solidFill>
              </a:rPr>
            </a:br>
            <a:r>
              <a:rPr lang="en-US">
                <a:solidFill>
                  <a:schemeClr val="dk1"/>
                </a:solidFill>
              </a:rPr>
              <a:t> </a:t>
            </a:r>
            <a:r>
              <a:rPr b="1" lang="en-US">
                <a:solidFill>
                  <a:schemeClr val="dk1"/>
                </a:solidFill>
              </a:rPr>
              <a:t>Side projects</a:t>
            </a:r>
            <a:r>
              <a:rPr lang="en-US">
                <a:solidFill>
                  <a:schemeClr val="dk1"/>
                </a:solidFill>
              </a:rPr>
              <a:t> demonstrate initiative and problem-solving — they’re small but high-impact.</a:t>
            </a:r>
            <a:br>
              <a:rPr lang="en-US">
                <a:solidFill>
                  <a:schemeClr val="dk1"/>
                </a:solidFill>
              </a:rPr>
            </a:br>
            <a:r>
              <a:rPr lang="en-US">
                <a:solidFill>
                  <a:schemeClr val="dk1"/>
                </a:solidFill>
              </a:rPr>
              <a:t> </a:t>
            </a:r>
            <a:r>
              <a:rPr b="1" lang="en-US">
                <a:solidFill>
                  <a:schemeClr val="dk1"/>
                </a:solidFill>
              </a:rPr>
              <a:t>Content platforms</a:t>
            </a:r>
            <a:r>
              <a:rPr lang="en-US">
                <a:solidFill>
                  <a:schemeClr val="dk1"/>
                </a:solidFill>
              </a:rPr>
              <a:t> like LinkedIn, GitHub, or a blog take all of that and amplify it to a wider audience.</a:t>
            </a:r>
            <a:br>
              <a:rPr lang="en-US">
                <a:solidFill>
                  <a:schemeClr val="dk1"/>
                </a:solidFill>
              </a:rPr>
            </a:br>
            <a:r>
              <a:rPr lang="en-US">
                <a:solidFill>
                  <a:schemeClr val="dk1"/>
                </a:solidFill>
              </a:rPr>
              <a:t> And finally, </a:t>
            </a:r>
            <a:r>
              <a:rPr b="1" lang="en-US">
                <a:solidFill>
                  <a:schemeClr val="dk1"/>
                </a:solidFill>
              </a:rPr>
              <a:t>feedback and analytics</a:t>
            </a:r>
            <a:r>
              <a:rPr lang="en-US">
                <a:solidFill>
                  <a:schemeClr val="dk1"/>
                </a:solidFill>
              </a:rPr>
              <a:t> close the loop — they show you what’s working, where to adapt, and how to grow smarter over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Together, these tools aren’t separate. They reinforce each other. A side project can become a blog post, which you showcase on your website, which builds visibility and trust, which then feeds back into more opportunities. That’s the power of building an ecosystem rather than just using tools in isolation.”</a:t>
            </a:r>
            <a:endParaRPr>
              <a:solidFill>
                <a:schemeClr val="dk1"/>
              </a:solidFill>
            </a:endParaRPr>
          </a:p>
          <a:p>
            <a:pPr indent="0" lvl="0" marL="0" rtl="0" algn="l">
              <a:spcBef>
                <a:spcPts val="1200"/>
              </a:spcBef>
              <a:spcAft>
                <a:spcPts val="0"/>
              </a:spcAft>
              <a:buNone/>
            </a:pPr>
            <a:r>
              <a:t/>
            </a:r>
            <a:endParaRPr/>
          </a:p>
        </p:txBody>
      </p:sp>
      <p:sp>
        <p:nvSpPr>
          <p:cNvPr id="212" name="Google Shape;21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Your portfolio website is your digital home base. It’s the one place you fully control, and it tells your professional story. A simple site that shows your projects, blog posts, or even just your resume already sets you apart. The key is that it scales your visibility — when someone Googles you, this is what they’ll find, and it can reach far beyond your current job or class.</a:t>
            </a:r>
            <a:endParaRPr/>
          </a:p>
        </p:txBody>
      </p:sp>
      <p:sp>
        <p:nvSpPr>
          <p:cNvPr id="245" name="Google Shape;24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6cdcb6ff9a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Documentation is one of the most underrated tools for career branding. A knowledge repository — whether it’s a wiki, a set of FAQs, or project notes — becomes living documentation. It scales your expertise across teams and across time. And every doc you write builds both visibility and trust, because people rely on it long after you’ve moved on.</a:t>
            </a:r>
            <a:endParaRPr/>
          </a:p>
        </p:txBody>
      </p:sp>
      <p:sp>
        <p:nvSpPr>
          <p:cNvPr id="252" name="Google Shape;252;g36cdcb6ff9a_0_2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6cdcb6ff9a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Side projects are powerful because they demonstrate initiative and creativity. These don’t have to be huge — a small app, a script, or a utility that solves a pain point can make a big impact. The beauty of side projects is that they scale — you solve something once, and others can benefit from it again and again. They also show employers that you can take ideas from concept to execution.</a:t>
            </a:r>
            <a:endParaRPr/>
          </a:p>
        </p:txBody>
      </p:sp>
      <p:sp>
        <p:nvSpPr>
          <p:cNvPr id="259" name="Google Shape;259;g36cdcb6ff9a_0_2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6cdcb6ff9a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Platforms like LinkedIn, GitHub, Gumroad, or even a personal blog are amplifiers. They take what you’ve built and put it in front of a larger audience. A GitHub repo, a LinkedIn post, or a Gumroad template can reach hundreds or thousands of people. The point is that your reputation no longer lives only inside one company — these platforms let your brand scale across communities and industries.</a:t>
            </a:r>
            <a:endParaRPr/>
          </a:p>
        </p:txBody>
      </p:sp>
      <p:sp>
        <p:nvSpPr>
          <p:cNvPr id="266" name="Google Shape;266;g36cdcb6ff9a_0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6cdcb6ff9a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last tool is about learning from feedback. Whether it’s GitHub stars, LinkedIn analytics, Google Analytics, or even survey polls, these signals help you refine and grow your brand. You can see what resonates, what doesn’t, and then adapt. That’s what scaling really means — not just putting things out there, but improving as your audience grows.</a:t>
            </a:r>
            <a:endParaRPr/>
          </a:p>
        </p:txBody>
      </p:sp>
      <p:sp>
        <p:nvSpPr>
          <p:cNvPr id="273" name="Google Shape;273;g36cdcb6ff9a_0_2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6cdcb6ff9a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6cdcb6ff9a_0_3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9f5aeafac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9f5aeafacf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cxnSp>
        <p:nvCxnSpPr>
          <p:cNvPr id="11" name="Google Shape;11;g36cdcb6ff9a_0_135"/>
          <p:cNvCxnSpPr/>
          <p:nvPr/>
        </p:nvCxnSpPr>
        <p:spPr>
          <a:xfrm>
            <a:off x="4278300" y="3668217"/>
            <a:ext cx="587400" cy="0"/>
          </a:xfrm>
          <a:prstGeom prst="straightConnector1">
            <a:avLst/>
          </a:prstGeom>
          <a:noFill/>
          <a:ln cap="flat" cmpd="sng" w="76200">
            <a:solidFill>
              <a:schemeClr val="dk1"/>
            </a:solidFill>
            <a:prstDash val="solid"/>
            <a:round/>
            <a:headEnd len="sm" w="sm" type="none"/>
            <a:tailEnd len="sm" w="sm" type="none"/>
          </a:ln>
        </p:spPr>
      </p:cxnSp>
      <p:sp>
        <p:nvSpPr>
          <p:cNvPr id="12" name="Google Shape;12;g36cdcb6ff9a_0_135"/>
          <p:cNvSpPr txBox="1"/>
          <p:nvPr>
            <p:ph type="ctrTitle"/>
          </p:nvPr>
        </p:nvSpPr>
        <p:spPr>
          <a:xfrm>
            <a:off x="311700" y="794633"/>
            <a:ext cx="8520600" cy="26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3" name="Google Shape;13;g36cdcb6ff9a_0_135"/>
          <p:cNvSpPr txBox="1"/>
          <p:nvPr>
            <p:ph idx="1" type="subTitle"/>
          </p:nvPr>
        </p:nvSpPr>
        <p:spPr>
          <a:xfrm>
            <a:off x="311700" y="4221097"/>
            <a:ext cx="8520600" cy="978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4" name="Google Shape;14;g36cdcb6ff9a_0_135"/>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g36cdcb6ff9a_0_140"/>
          <p:cNvSpPr txBox="1"/>
          <p:nvPr>
            <p:ph type="title"/>
          </p:nvPr>
        </p:nvSpPr>
        <p:spPr>
          <a:xfrm>
            <a:off x="311700" y="3307400"/>
            <a:ext cx="8114400" cy="32613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7" name="Google Shape;17;g36cdcb6ff9a_0_140"/>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g36cdcb6ff9a_0_143"/>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g36cdcb6ff9a_0_143"/>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g36cdcb6ff9a_0_143"/>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g36cdcb6ff9a_0_147"/>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g36cdcb6ff9a_0_147"/>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g36cdcb6ff9a_0_147"/>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g36cdcb6ff9a_0_147"/>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g36cdcb6ff9a_0_152"/>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g36cdcb6ff9a_0_152"/>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g36cdcb6ff9a_0_155"/>
          <p:cNvSpPr txBox="1"/>
          <p:nvPr>
            <p:ph type="title"/>
          </p:nvPr>
        </p:nvSpPr>
        <p:spPr>
          <a:xfrm>
            <a:off x="311700" y="8424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g36cdcb6ff9a_0_155"/>
          <p:cNvSpPr txBox="1"/>
          <p:nvPr>
            <p:ph idx="1" type="body"/>
          </p:nvPr>
        </p:nvSpPr>
        <p:spPr>
          <a:xfrm>
            <a:off x="311700" y="1987833"/>
            <a:ext cx="2808000" cy="4104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g36cdcb6ff9a_0_155"/>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4" name="Shape 34"/>
        <p:cNvGrpSpPr/>
        <p:nvPr/>
      </p:nvGrpSpPr>
      <p:grpSpPr>
        <a:xfrm>
          <a:off x="0" y="0"/>
          <a:ext cx="0" cy="0"/>
          <a:chOff x="0" y="0"/>
          <a:chExt cx="0" cy="0"/>
        </a:xfrm>
      </p:grpSpPr>
      <p:sp>
        <p:nvSpPr>
          <p:cNvPr id="35" name="Google Shape;35;g36cdcb6ff9a_0_159"/>
          <p:cNvSpPr txBox="1"/>
          <p:nvPr>
            <p:ph type="title"/>
          </p:nvPr>
        </p:nvSpPr>
        <p:spPr>
          <a:xfrm>
            <a:off x="490250" y="701800"/>
            <a:ext cx="5683800" cy="5454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g36cdcb6ff9a_0_159"/>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g36cdcb6ff9a_0_162"/>
          <p:cNvSpPr/>
          <p:nvPr/>
        </p:nvSpPr>
        <p:spPr>
          <a:xfrm>
            <a:off x="4572000" y="133"/>
            <a:ext cx="4572000" cy="685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g36cdcb6ff9a_0_162"/>
          <p:cNvCxnSpPr/>
          <p:nvPr/>
        </p:nvCxnSpPr>
        <p:spPr>
          <a:xfrm>
            <a:off x="5029675" y="59940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g36cdcb6ff9a_0_162"/>
          <p:cNvSpPr txBox="1"/>
          <p:nvPr>
            <p:ph type="title"/>
          </p:nvPr>
        </p:nvSpPr>
        <p:spPr>
          <a:xfrm>
            <a:off x="265500" y="1834132"/>
            <a:ext cx="4045200" cy="20691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g36cdcb6ff9a_0_162"/>
          <p:cNvSpPr txBox="1"/>
          <p:nvPr>
            <p:ph idx="1" type="subTitle"/>
          </p:nvPr>
        </p:nvSpPr>
        <p:spPr>
          <a:xfrm>
            <a:off x="265500" y="3974834"/>
            <a:ext cx="4045200" cy="1794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2" name="Google Shape;42;g36cdcb6ff9a_0_162"/>
          <p:cNvSpPr txBox="1"/>
          <p:nvPr>
            <p:ph idx="2" type="body"/>
          </p:nvPr>
        </p:nvSpPr>
        <p:spPr>
          <a:xfrm>
            <a:off x="4939500" y="965600"/>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g36cdcb6ff9a_0_162"/>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g36cdcb6ff9a_0_169"/>
          <p:cNvSpPr txBox="1"/>
          <p:nvPr>
            <p:ph idx="1" type="body"/>
          </p:nvPr>
        </p:nvSpPr>
        <p:spPr>
          <a:xfrm>
            <a:off x="319500" y="5644967"/>
            <a:ext cx="5998800" cy="7983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6" name="Google Shape;46;g36cdcb6ff9a_0_169"/>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g36cdcb6ff9a_0_172"/>
          <p:cNvSpPr txBox="1"/>
          <p:nvPr>
            <p:ph hasCustomPrompt="1" type="title"/>
          </p:nvPr>
        </p:nvSpPr>
        <p:spPr>
          <a:xfrm>
            <a:off x="311700" y="1557233"/>
            <a:ext cx="8520600" cy="264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9" name="Google Shape;49;g36cdcb6ff9a_0_172"/>
          <p:cNvSpPr txBox="1"/>
          <p:nvPr>
            <p:ph idx="1" type="body"/>
          </p:nvPr>
        </p:nvSpPr>
        <p:spPr>
          <a:xfrm>
            <a:off x="311700" y="4299000"/>
            <a:ext cx="8520600" cy="1428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0" name="Google Shape;50;g36cdcb6ff9a_0_172"/>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g36cdcb6ff9a_0_176"/>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g36cdcb6ff9a_0_1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5" name="Google Shape;55;g36cdcb6ff9a_0_17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6" name="Google Shape;56;g36cdcb6ff9a_0_17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g36cdcb6ff9a_0_17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g36cdcb6ff9a_0_17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g36cdcb6ff9a_0_13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g36cdcb6ff9a_0_13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g36cdcb6ff9a_0_131"/>
          <p:cNvSpPr txBox="1"/>
          <p:nvPr>
            <p:ph idx="12" type="sldNum"/>
          </p:nvPr>
        </p:nvSpPr>
        <p:spPr>
          <a:xfrm>
            <a:off x="8472458" y="627157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9" name="Google Shape;9;g36cdcb6ff9a_0_131"/>
          <p:cNvSpPr txBox="1"/>
          <p:nvPr/>
        </p:nvSpPr>
        <p:spPr>
          <a:xfrm>
            <a:off x="59200" y="6427875"/>
            <a:ext cx="5572200" cy="3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2"/>
                </a:solidFill>
                <a:latin typeface="Proxima Nova"/>
                <a:ea typeface="Proxima Nova"/>
                <a:cs typeface="Proxima Nova"/>
                <a:sym typeface="Proxima Nova"/>
              </a:rPr>
              <a:t>Scaling Your Career Brand - Bilal Abdul-Nabi, 2025</a:t>
            </a:r>
            <a:endParaRPr sz="1200">
              <a:solidFill>
                <a:schemeClr val="dk2"/>
              </a:solidFill>
              <a:latin typeface="Proxima Nova"/>
              <a:ea typeface="Proxima Nova"/>
              <a:cs typeface="Proxima Nova"/>
              <a:sym typeface="Proxima Nova"/>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push/>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hyperlink" Target="http://www.lebiru.com" TargetMode="External"/><Relationship Id="rId5" Type="http://schemas.openxmlformats.org/officeDocument/2006/relationships/hyperlink" Target="http://github.com/lebiru" TargetMode="External"/><Relationship Id="rId6" Type="http://schemas.openxmlformats.org/officeDocument/2006/relationships/hyperlink" Target="https://www.linkedin.com/in/bilalakab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hyperlink" Target="http://www.lebiru.com" TargetMode="External"/><Relationship Id="rId4" Type="http://schemas.openxmlformats.org/officeDocument/2006/relationships/hyperlink" Target="http://github.com/lebiru" TargetMode="External"/><Relationship Id="rId5" Type="http://schemas.openxmlformats.org/officeDocument/2006/relationships/hyperlink" Target="https://www.linkedin.com/in/bilalakabi/" TargetMode="External"/><Relationship Id="rId6"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hyperlink" Target="https://www.linkedin.com/business/talent/blog/employee-experience/soft-skills-tied-to-faster-promotions?utm_source=chatgpt.com" TargetMode="External"/><Relationship Id="rId4" Type="http://schemas.openxmlformats.org/officeDocument/2006/relationships/hyperlink" Target="https://www.linkedin.com/business/talent/blog/employee-experience/soft-skills-tied-to-faster-promotions?utm_source=chatgpt.com" TargetMode="External"/><Relationship Id="rId5" Type="http://schemas.openxmlformats.org/officeDocument/2006/relationships/hyperlink" Target="https://hbr.org/2022/11/how-to-do-sponsorship-right?utm_source=chatgpt.com" TargetMode="External"/><Relationship Id="rId6" Type="http://schemas.openxmlformats.org/officeDocument/2006/relationships/hyperlink" Target="https://hbr.org/2022/11/how-to-do-sponsorship-right?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E5D5"/>
        </a:solidFill>
      </p:bgPr>
    </p:bg>
    <p:spTree>
      <p:nvGrpSpPr>
        <p:cNvPr id="62" name="Shape 62"/>
        <p:cNvGrpSpPr/>
        <p:nvPr/>
      </p:nvGrpSpPr>
      <p:grpSpPr>
        <a:xfrm>
          <a:off x="0" y="0"/>
          <a:ext cx="0" cy="0"/>
          <a:chOff x="0" y="0"/>
          <a:chExt cx="0" cy="0"/>
        </a:xfrm>
      </p:grpSpPr>
      <p:sp>
        <p:nvSpPr>
          <p:cNvPr id="63" name="Google Shape;63;p1"/>
          <p:cNvSpPr txBox="1"/>
          <p:nvPr>
            <p:ph idx="1" type="subTitle"/>
          </p:nvPr>
        </p:nvSpPr>
        <p:spPr>
          <a:xfrm>
            <a:off x="311700" y="4775024"/>
            <a:ext cx="8520600" cy="5601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solidFill>
                  <a:srgbClr val="000000"/>
                </a:solidFill>
              </a:rPr>
              <a:t>How to grow visibility, trust, and impact in your career</a:t>
            </a:r>
            <a:endParaRPr>
              <a:solidFill>
                <a:srgbClr val="000000"/>
              </a:solidFill>
            </a:endParaRPr>
          </a:p>
        </p:txBody>
      </p:sp>
      <p:pic>
        <p:nvPicPr>
          <p:cNvPr id="64" name="Google Shape;64;p1"/>
          <p:cNvPicPr preferRelativeResize="0"/>
          <p:nvPr/>
        </p:nvPicPr>
        <p:blipFill>
          <a:blip r:embed="rId3">
            <a:alphaModFix/>
          </a:blip>
          <a:stretch>
            <a:fillRect/>
          </a:stretch>
        </p:blipFill>
        <p:spPr>
          <a:xfrm>
            <a:off x="2184489" y="0"/>
            <a:ext cx="4775024" cy="47750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68" name="Shape 68"/>
        <p:cNvGrpSpPr/>
        <p:nvPr/>
      </p:nvGrpSpPr>
      <p:grpSpPr>
        <a:xfrm>
          <a:off x="0" y="0"/>
          <a:ext cx="0" cy="0"/>
          <a:chOff x="0" y="0"/>
          <a:chExt cx="0" cy="0"/>
        </a:xfrm>
      </p:grpSpPr>
      <p:sp>
        <p:nvSpPr>
          <p:cNvPr id="69" name="Google Shape;69;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000">
                <a:solidFill>
                  <a:srgbClr val="000000"/>
                </a:solidFill>
                <a:latin typeface="Calibri"/>
                <a:ea typeface="Calibri"/>
                <a:cs typeface="Calibri"/>
                <a:sym typeface="Calibri"/>
              </a:rPr>
              <a:t>About Me</a:t>
            </a:r>
            <a:endParaRPr sz="4000">
              <a:solidFill>
                <a:srgbClr val="000000"/>
              </a:solidFill>
            </a:endParaRPr>
          </a:p>
        </p:txBody>
      </p:sp>
      <p:sp>
        <p:nvSpPr>
          <p:cNvPr id="70" name="Google Shape;70;p2"/>
          <p:cNvSpPr txBox="1"/>
          <p:nvPr>
            <p:ph idx="1" type="body"/>
          </p:nvPr>
        </p:nvSpPr>
        <p:spPr>
          <a:xfrm>
            <a:off x="3628500" y="1738275"/>
            <a:ext cx="5058300" cy="2012700"/>
          </a:xfrm>
          <a:prstGeom prst="rect">
            <a:avLst/>
          </a:prstGeom>
          <a:noFill/>
          <a:ln>
            <a:noFill/>
          </a:ln>
        </p:spPr>
        <p:txBody>
          <a:bodyPr anchorCtr="0" anchor="t" bIns="45700" lIns="91425" spcFirstLastPara="1" rIns="91425" wrap="square" tIns="45700">
            <a:normAutofit/>
          </a:bodyPr>
          <a:lstStyle/>
          <a:p>
            <a:pPr indent="-285750" lvl="0" marL="342900" rtl="0" algn="l">
              <a:spcBef>
                <a:spcPts val="0"/>
              </a:spcBef>
              <a:spcAft>
                <a:spcPts val="0"/>
              </a:spcAft>
              <a:buClr>
                <a:srgbClr val="000000"/>
              </a:buClr>
              <a:buSzPts val="2300"/>
              <a:buChar char="●"/>
            </a:pPr>
            <a:r>
              <a:rPr lang="en-US" sz="2300">
                <a:solidFill>
                  <a:srgbClr val="000000"/>
                </a:solidFill>
                <a:latin typeface="Calibri"/>
                <a:ea typeface="Calibri"/>
                <a:cs typeface="Calibri"/>
                <a:sym typeface="Calibri"/>
              </a:rPr>
              <a:t>Bilal Abdul-Nabi - Senior SWE @ UPS</a:t>
            </a:r>
            <a:endParaRPr sz="900">
              <a:solidFill>
                <a:srgbClr val="000000"/>
              </a:solidFill>
            </a:endParaRPr>
          </a:p>
          <a:p>
            <a:pPr indent="-285750" lvl="0" marL="342900" rtl="0" algn="l">
              <a:spcBef>
                <a:spcPts val="640"/>
              </a:spcBef>
              <a:spcAft>
                <a:spcPts val="0"/>
              </a:spcAft>
              <a:buClr>
                <a:srgbClr val="000000"/>
              </a:buClr>
              <a:buSzPts val="2300"/>
              <a:buChar char="●"/>
            </a:pPr>
            <a:r>
              <a:rPr lang="en-US" sz="2300">
                <a:solidFill>
                  <a:srgbClr val="000000"/>
                </a:solidFill>
                <a:latin typeface="Calibri"/>
                <a:ea typeface="Calibri"/>
                <a:cs typeface="Calibri"/>
                <a:sym typeface="Calibri"/>
              </a:rPr>
              <a:t>12 years developing software professionally</a:t>
            </a:r>
            <a:endParaRPr sz="900">
              <a:solidFill>
                <a:srgbClr val="000000"/>
              </a:solidFill>
            </a:endParaRPr>
          </a:p>
          <a:p>
            <a:pPr indent="-285750" lvl="0" marL="342900" rtl="0" algn="l">
              <a:spcBef>
                <a:spcPts val="640"/>
              </a:spcBef>
              <a:spcAft>
                <a:spcPts val="1200"/>
              </a:spcAft>
              <a:buClr>
                <a:srgbClr val="000000"/>
              </a:buClr>
              <a:buSzPts val="2300"/>
              <a:buChar char="●"/>
            </a:pPr>
            <a:r>
              <a:rPr lang="en-US" sz="2300">
                <a:solidFill>
                  <a:srgbClr val="000000"/>
                </a:solidFill>
                <a:latin typeface="Calibri"/>
                <a:ea typeface="Calibri"/>
                <a:cs typeface="Calibri"/>
                <a:sym typeface="Calibri"/>
              </a:rPr>
              <a:t>Origin: The Boogie Down Bronx</a:t>
            </a:r>
            <a:endParaRPr sz="2300">
              <a:solidFill>
                <a:srgbClr val="000000"/>
              </a:solidFill>
              <a:latin typeface="Calibri"/>
              <a:ea typeface="Calibri"/>
              <a:cs typeface="Calibri"/>
              <a:sym typeface="Calibri"/>
            </a:endParaRPr>
          </a:p>
        </p:txBody>
      </p:sp>
      <p:pic>
        <p:nvPicPr>
          <p:cNvPr id="71" name="Google Shape;71;p2"/>
          <p:cNvPicPr preferRelativeResize="0"/>
          <p:nvPr/>
        </p:nvPicPr>
        <p:blipFill>
          <a:blip r:embed="rId3">
            <a:alphaModFix/>
          </a:blip>
          <a:stretch>
            <a:fillRect/>
          </a:stretch>
        </p:blipFill>
        <p:spPr>
          <a:xfrm>
            <a:off x="457200" y="1417648"/>
            <a:ext cx="2659200" cy="2653950"/>
          </a:xfrm>
          <a:prstGeom prst="rect">
            <a:avLst/>
          </a:prstGeom>
          <a:noFill/>
          <a:ln>
            <a:noFill/>
          </a:ln>
        </p:spPr>
      </p:pic>
      <p:sp>
        <p:nvSpPr>
          <p:cNvPr id="72" name="Google Shape;72;p2"/>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73" name="Google Shape;73;p2"/>
          <p:cNvSpPr txBox="1"/>
          <p:nvPr/>
        </p:nvSpPr>
        <p:spPr>
          <a:xfrm>
            <a:off x="3794550" y="4156950"/>
            <a:ext cx="47262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u="sng">
                <a:solidFill>
                  <a:schemeClr val="hlink"/>
                </a:solidFill>
                <a:latin typeface="Proxima Nova"/>
                <a:ea typeface="Proxima Nova"/>
                <a:cs typeface="Proxima Nova"/>
                <a:sym typeface="Proxima Nova"/>
              </a:rPr>
              <a:t>https://</a:t>
            </a:r>
            <a:r>
              <a:rPr lang="en-US" sz="2100" u="sng">
                <a:solidFill>
                  <a:schemeClr val="hlink"/>
                </a:solidFill>
                <a:latin typeface="Proxima Nova"/>
                <a:ea typeface="Proxima Nova"/>
                <a:cs typeface="Proxima Nova"/>
                <a:sym typeface="Proxima Nova"/>
                <a:hlinkClick r:id="rId4"/>
              </a:rPr>
              <a:t>www.lebiru.com</a:t>
            </a:r>
            <a:endParaRPr sz="21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US" sz="2100" u="sng">
                <a:solidFill>
                  <a:schemeClr val="hlink"/>
                </a:solidFill>
                <a:latin typeface="Proxima Nova"/>
                <a:ea typeface="Proxima Nova"/>
                <a:cs typeface="Proxima Nova"/>
                <a:sym typeface="Proxima Nova"/>
                <a:hlinkClick r:id="rId5"/>
              </a:rPr>
              <a:t>https://github.com/lebiru</a:t>
            </a:r>
            <a:endParaRPr sz="21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US" sz="2100" u="sng">
                <a:solidFill>
                  <a:schemeClr val="hlink"/>
                </a:solidFill>
                <a:latin typeface="Proxima Nova"/>
                <a:ea typeface="Proxima Nova"/>
                <a:cs typeface="Proxima Nova"/>
                <a:sym typeface="Proxima Nova"/>
                <a:hlinkClick r:id="rId6"/>
              </a:rPr>
              <a:t>https://www.linkedin.com/in/bilalakabi/</a:t>
            </a:r>
            <a:endParaRPr sz="2100">
              <a:solidFill>
                <a:schemeClr val="dk2"/>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77" name="Shape 77"/>
        <p:cNvGrpSpPr/>
        <p:nvPr/>
      </p:nvGrpSpPr>
      <p:grpSpPr>
        <a:xfrm>
          <a:off x="0" y="0"/>
          <a:ext cx="0" cy="0"/>
          <a:chOff x="0" y="0"/>
          <a:chExt cx="0" cy="0"/>
        </a:xfrm>
      </p:grpSpPr>
      <p:sp>
        <p:nvSpPr>
          <p:cNvPr id="78" name="Google Shape;7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000">
                <a:solidFill>
                  <a:srgbClr val="000000"/>
                </a:solidFill>
                <a:latin typeface="Calibri"/>
                <a:ea typeface="Calibri"/>
                <a:cs typeface="Calibri"/>
                <a:sym typeface="Calibri"/>
              </a:rPr>
              <a:t>What You Will Gain from This Talk</a:t>
            </a:r>
            <a:endParaRPr sz="2600">
              <a:solidFill>
                <a:srgbClr val="000000"/>
              </a:solidFill>
            </a:endParaRPr>
          </a:p>
        </p:txBody>
      </p:sp>
      <p:sp>
        <p:nvSpPr>
          <p:cNvPr id="79" name="Google Shape;79;p3"/>
          <p:cNvSpPr txBox="1"/>
          <p:nvPr>
            <p:ph idx="1" type="body"/>
          </p:nvPr>
        </p:nvSpPr>
        <p:spPr>
          <a:xfrm>
            <a:off x="613400" y="1600200"/>
            <a:ext cx="8073300" cy="4526100"/>
          </a:xfrm>
          <a:prstGeom prst="rect">
            <a:avLst/>
          </a:prstGeom>
          <a:noFill/>
          <a:ln>
            <a:noFill/>
          </a:ln>
        </p:spPr>
        <p:txBody>
          <a:bodyPr anchorCtr="0" anchor="t" bIns="45700" lIns="91425" spcFirstLastPara="1" rIns="91425" wrap="square" tIns="45700">
            <a:normAutofit/>
          </a:bodyPr>
          <a:lstStyle/>
          <a:p>
            <a:pPr indent="-393700" lvl="0" marL="800100" rtl="0" algn="l">
              <a:lnSpc>
                <a:spcPct val="150000"/>
              </a:lnSpc>
              <a:spcBef>
                <a:spcPts val="0"/>
              </a:spcBef>
              <a:spcAft>
                <a:spcPts val="0"/>
              </a:spcAft>
              <a:buClr>
                <a:srgbClr val="000000"/>
              </a:buClr>
              <a:buSzPts val="2600"/>
              <a:buAutoNum type="arabicPeriod"/>
            </a:pPr>
            <a:r>
              <a:rPr lang="en-US" sz="2600">
                <a:solidFill>
                  <a:srgbClr val="000000"/>
                </a:solidFill>
                <a:latin typeface="Calibri"/>
                <a:ea typeface="Calibri"/>
                <a:cs typeface="Calibri"/>
                <a:sym typeface="Calibri"/>
              </a:rPr>
              <a:t>Understand what a career brand is</a:t>
            </a:r>
            <a:endParaRPr sz="2600">
              <a:solidFill>
                <a:srgbClr val="000000"/>
              </a:solidFill>
              <a:latin typeface="Calibri"/>
              <a:ea typeface="Calibri"/>
              <a:cs typeface="Calibri"/>
              <a:sym typeface="Calibri"/>
            </a:endParaRPr>
          </a:p>
          <a:p>
            <a:pPr indent="-393700" lvl="0" marL="800100" rtl="0" algn="l">
              <a:lnSpc>
                <a:spcPct val="150000"/>
              </a:lnSpc>
              <a:spcBef>
                <a:spcPts val="0"/>
              </a:spcBef>
              <a:spcAft>
                <a:spcPts val="0"/>
              </a:spcAft>
              <a:buClr>
                <a:srgbClr val="000000"/>
              </a:buClr>
              <a:buSzPts val="2600"/>
              <a:buAutoNum type="arabicPeriod"/>
            </a:pPr>
            <a:r>
              <a:rPr lang="en-US" sz="2600">
                <a:solidFill>
                  <a:srgbClr val="000000"/>
                </a:solidFill>
                <a:latin typeface="Calibri"/>
                <a:ea typeface="Calibri"/>
                <a:cs typeface="Calibri"/>
                <a:sym typeface="Calibri"/>
              </a:rPr>
              <a:t>Learn 5 habits to grow visibility, trust, and impact</a:t>
            </a:r>
            <a:endParaRPr sz="2600">
              <a:solidFill>
                <a:srgbClr val="000000"/>
              </a:solidFill>
              <a:latin typeface="Calibri"/>
              <a:ea typeface="Calibri"/>
              <a:cs typeface="Calibri"/>
              <a:sym typeface="Calibri"/>
            </a:endParaRPr>
          </a:p>
          <a:p>
            <a:pPr indent="-393700" lvl="0" marL="800100" rtl="0" algn="l">
              <a:lnSpc>
                <a:spcPct val="150000"/>
              </a:lnSpc>
              <a:spcBef>
                <a:spcPts val="0"/>
              </a:spcBef>
              <a:spcAft>
                <a:spcPts val="0"/>
              </a:spcAft>
              <a:buClr>
                <a:srgbClr val="000000"/>
              </a:buClr>
              <a:buSzPts val="2600"/>
              <a:buAutoNum type="arabicPeriod"/>
            </a:pPr>
            <a:r>
              <a:rPr lang="en-US" sz="2600">
                <a:solidFill>
                  <a:srgbClr val="000000"/>
                </a:solidFill>
                <a:latin typeface="Calibri"/>
                <a:ea typeface="Calibri"/>
                <a:cs typeface="Calibri"/>
                <a:sym typeface="Calibri"/>
              </a:rPr>
              <a:t>Discover tools to amplify your work</a:t>
            </a:r>
            <a:endParaRPr sz="2600">
              <a:solidFill>
                <a:srgbClr val="000000"/>
              </a:solidFill>
              <a:latin typeface="Calibri"/>
              <a:ea typeface="Calibri"/>
              <a:cs typeface="Calibri"/>
              <a:sym typeface="Calibri"/>
            </a:endParaRPr>
          </a:p>
          <a:p>
            <a:pPr indent="-393700" lvl="0" marL="800100" rtl="0" algn="l">
              <a:lnSpc>
                <a:spcPct val="150000"/>
              </a:lnSpc>
              <a:spcBef>
                <a:spcPts val="0"/>
              </a:spcBef>
              <a:spcAft>
                <a:spcPts val="0"/>
              </a:spcAft>
              <a:buClr>
                <a:srgbClr val="000000"/>
              </a:buClr>
              <a:buSzPts val="2600"/>
              <a:buAutoNum type="arabicPeriod"/>
            </a:pPr>
            <a:r>
              <a:rPr lang="en-US" sz="2600">
                <a:solidFill>
                  <a:srgbClr val="000000"/>
                </a:solidFill>
                <a:latin typeface="Calibri"/>
                <a:ea typeface="Calibri"/>
                <a:cs typeface="Calibri"/>
                <a:sym typeface="Calibri"/>
              </a:rPr>
              <a:t>Do a quick worksession to define your brand</a:t>
            </a:r>
            <a:endParaRPr sz="2600">
              <a:solidFill>
                <a:srgbClr val="000000"/>
              </a:solidFill>
              <a:latin typeface="Calibri"/>
              <a:ea typeface="Calibri"/>
              <a:cs typeface="Calibri"/>
              <a:sym typeface="Calibri"/>
            </a:endParaRPr>
          </a:p>
          <a:p>
            <a:pPr indent="0" lvl="0" marL="800100" rtl="0" algn="l">
              <a:lnSpc>
                <a:spcPct val="150000"/>
              </a:lnSpc>
              <a:spcBef>
                <a:spcPts val="0"/>
              </a:spcBef>
              <a:spcAft>
                <a:spcPts val="0"/>
              </a:spcAft>
              <a:buNone/>
            </a:pPr>
            <a:r>
              <a:t/>
            </a:r>
            <a:endParaRPr sz="2600">
              <a:solidFill>
                <a:srgbClr val="000000"/>
              </a:solidFill>
              <a:latin typeface="Calibri"/>
              <a:ea typeface="Calibri"/>
              <a:cs typeface="Calibri"/>
              <a:sym typeface="Calibri"/>
            </a:endParaRPr>
          </a:p>
        </p:txBody>
      </p:sp>
      <p:sp>
        <p:nvSpPr>
          <p:cNvPr id="80" name="Google Shape;80;p3"/>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84" name="Shape 84"/>
        <p:cNvGrpSpPr/>
        <p:nvPr/>
      </p:nvGrpSpPr>
      <p:grpSpPr>
        <a:xfrm>
          <a:off x="0" y="0"/>
          <a:ext cx="0" cy="0"/>
          <a:chOff x="0" y="0"/>
          <a:chExt cx="0" cy="0"/>
        </a:xfrm>
      </p:grpSpPr>
      <p:sp>
        <p:nvSpPr>
          <p:cNvPr id="85" name="Google Shape;85;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000">
                <a:solidFill>
                  <a:srgbClr val="000000"/>
                </a:solidFill>
                <a:latin typeface="Calibri"/>
                <a:ea typeface="Calibri"/>
                <a:cs typeface="Calibri"/>
                <a:sym typeface="Calibri"/>
              </a:rPr>
              <a:t>Agenda</a:t>
            </a:r>
            <a:endParaRPr sz="4000">
              <a:solidFill>
                <a:srgbClr val="000000"/>
              </a:solidFill>
            </a:endParaRPr>
          </a:p>
        </p:txBody>
      </p:sp>
      <p:sp>
        <p:nvSpPr>
          <p:cNvPr id="86" name="Google Shape;86;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04800" lvl="0" marL="342900" rtl="0" algn="l">
              <a:spcBef>
                <a:spcPts val="0"/>
              </a:spcBef>
              <a:spcAft>
                <a:spcPts val="0"/>
              </a:spcAft>
              <a:buClr>
                <a:srgbClr val="000000"/>
              </a:buClr>
              <a:buSzPts val="2600"/>
              <a:buChar char="●"/>
            </a:pPr>
            <a:r>
              <a:rPr lang="en-US" sz="2600">
                <a:solidFill>
                  <a:srgbClr val="000000"/>
                </a:solidFill>
                <a:latin typeface="Calibri"/>
                <a:ea typeface="Calibri"/>
                <a:cs typeface="Calibri"/>
                <a:sym typeface="Calibri"/>
              </a:rPr>
              <a:t>Foundations</a:t>
            </a:r>
            <a:endParaRPr sz="2600">
              <a:solidFill>
                <a:srgbClr val="000000"/>
              </a:solidFill>
            </a:endParaRPr>
          </a:p>
          <a:p>
            <a:pPr indent="-304800" lvl="0" marL="342900" rtl="0" algn="l">
              <a:spcBef>
                <a:spcPts val="640"/>
              </a:spcBef>
              <a:spcAft>
                <a:spcPts val="0"/>
              </a:spcAft>
              <a:buClr>
                <a:srgbClr val="000000"/>
              </a:buClr>
              <a:buSzPts val="2600"/>
              <a:buChar char="●"/>
            </a:pPr>
            <a:r>
              <a:rPr lang="en-US" sz="2600">
                <a:solidFill>
                  <a:srgbClr val="000000"/>
                </a:solidFill>
                <a:latin typeface="Calibri"/>
                <a:ea typeface="Calibri"/>
                <a:cs typeface="Calibri"/>
                <a:sym typeface="Calibri"/>
              </a:rPr>
              <a:t>Habits</a:t>
            </a:r>
            <a:endParaRPr sz="2600">
              <a:solidFill>
                <a:srgbClr val="000000"/>
              </a:solidFill>
            </a:endParaRPr>
          </a:p>
          <a:p>
            <a:pPr indent="-304800" lvl="0" marL="342900" rtl="0" algn="l">
              <a:spcBef>
                <a:spcPts val="640"/>
              </a:spcBef>
              <a:spcAft>
                <a:spcPts val="0"/>
              </a:spcAft>
              <a:buClr>
                <a:srgbClr val="000000"/>
              </a:buClr>
              <a:buSzPts val="2600"/>
              <a:buChar char="●"/>
            </a:pPr>
            <a:r>
              <a:rPr lang="en-US" sz="2600">
                <a:solidFill>
                  <a:srgbClr val="000000"/>
                </a:solidFill>
                <a:latin typeface="Calibri"/>
                <a:ea typeface="Calibri"/>
                <a:cs typeface="Calibri"/>
                <a:sym typeface="Calibri"/>
              </a:rPr>
              <a:t>Tools</a:t>
            </a:r>
            <a:endParaRPr sz="2600">
              <a:solidFill>
                <a:srgbClr val="000000"/>
              </a:solidFill>
            </a:endParaRPr>
          </a:p>
          <a:p>
            <a:pPr indent="-304800" lvl="0" marL="342900" rtl="0" algn="l">
              <a:spcBef>
                <a:spcPts val="640"/>
              </a:spcBef>
              <a:spcAft>
                <a:spcPts val="0"/>
              </a:spcAft>
              <a:buClr>
                <a:srgbClr val="000000"/>
              </a:buClr>
              <a:buSzPts val="2600"/>
              <a:buChar char="●"/>
            </a:pPr>
            <a:r>
              <a:rPr lang="en-US" sz="2600">
                <a:solidFill>
                  <a:srgbClr val="000000"/>
                </a:solidFill>
                <a:latin typeface="Calibri"/>
                <a:ea typeface="Calibri"/>
                <a:cs typeface="Calibri"/>
                <a:sym typeface="Calibri"/>
              </a:rPr>
              <a:t>Worksession</a:t>
            </a:r>
            <a:endParaRPr sz="2600">
              <a:solidFill>
                <a:srgbClr val="000000"/>
              </a:solidFill>
            </a:endParaRPr>
          </a:p>
          <a:p>
            <a:pPr indent="-304800" lvl="0" marL="342900" rtl="0" algn="l">
              <a:spcBef>
                <a:spcPts val="640"/>
              </a:spcBef>
              <a:spcAft>
                <a:spcPts val="1200"/>
              </a:spcAft>
              <a:buClr>
                <a:srgbClr val="000000"/>
              </a:buClr>
              <a:buSzPts val="2600"/>
              <a:buChar char="●"/>
            </a:pPr>
            <a:r>
              <a:rPr lang="en-US" sz="2600">
                <a:solidFill>
                  <a:srgbClr val="000000"/>
                </a:solidFill>
                <a:latin typeface="Calibri"/>
                <a:ea typeface="Calibri"/>
                <a:cs typeface="Calibri"/>
                <a:sym typeface="Calibri"/>
              </a:rPr>
              <a:t>Q&amp;A</a:t>
            </a:r>
            <a:endParaRPr sz="2600">
              <a:solidFill>
                <a:srgbClr val="000000"/>
              </a:solidFill>
            </a:endParaRPr>
          </a:p>
        </p:txBody>
      </p:sp>
      <p:sp>
        <p:nvSpPr>
          <p:cNvPr id="87" name="Google Shape;87;p4"/>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91" name="Shape 91"/>
        <p:cNvGrpSpPr/>
        <p:nvPr/>
      </p:nvGrpSpPr>
      <p:grpSpPr>
        <a:xfrm>
          <a:off x="0" y="0"/>
          <a:ext cx="0" cy="0"/>
          <a:chOff x="0" y="0"/>
          <a:chExt cx="0" cy="0"/>
        </a:xfrm>
      </p:grpSpPr>
      <p:sp>
        <p:nvSpPr>
          <p:cNvPr id="92" name="Google Shape;92;g36cdcb6ff9a_0_236"/>
          <p:cNvSpPr txBox="1"/>
          <p:nvPr>
            <p:ph type="title"/>
          </p:nvPr>
        </p:nvSpPr>
        <p:spPr>
          <a:xfrm>
            <a:off x="265500" y="1834132"/>
            <a:ext cx="4045200" cy="2069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Foundations</a:t>
            </a:r>
            <a:endParaRPr/>
          </a:p>
        </p:txBody>
      </p:sp>
      <p:sp>
        <p:nvSpPr>
          <p:cNvPr id="93" name="Google Shape;93;g36cdcb6ff9a_0_236"/>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
        <p:nvSpPr>
          <p:cNvPr id="94" name="Google Shape;94;g36cdcb6ff9a_0_236"/>
          <p:cNvSpPr txBox="1"/>
          <p:nvPr>
            <p:ph idx="2" type="body"/>
          </p:nvPr>
        </p:nvSpPr>
        <p:spPr>
          <a:xfrm>
            <a:off x="4939500" y="965600"/>
            <a:ext cx="3837000" cy="39129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US" sz="2500"/>
              <a:t>The Case for Scaling Your Career Brand</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98" name="Shape 98"/>
        <p:cNvGrpSpPr/>
        <p:nvPr/>
      </p:nvGrpSpPr>
      <p:grpSpPr>
        <a:xfrm>
          <a:off x="0" y="0"/>
          <a:ext cx="0" cy="0"/>
          <a:chOff x="0" y="0"/>
          <a:chExt cx="0" cy="0"/>
        </a:xfrm>
      </p:grpSpPr>
      <p:sp>
        <p:nvSpPr>
          <p:cNvPr id="99" name="Google Shape;9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Poll #1</a:t>
            </a:r>
            <a:endParaRPr>
              <a:solidFill>
                <a:srgbClr val="000000"/>
              </a:solidFill>
            </a:endParaRPr>
          </a:p>
        </p:txBody>
      </p:sp>
      <p:sp>
        <p:nvSpPr>
          <p:cNvPr id="100" name="Google Shape;100;p11"/>
          <p:cNvSpPr txBox="1"/>
          <p:nvPr>
            <p:ph idx="1" type="body"/>
          </p:nvPr>
        </p:nvSpPr>
        <p:spPr>
          <a:xfrm>
            <a:off x="457200" y="1600200"/>
            <a:ext cx="8229600" cy="2995200"/>
          </a:xfrm>
          <a:prstGeom prst="rect">
            <a:avLst/>
          </a:prstGeom>
          <a:noFill/>
          <a:ln>
            <a:noFill/>
          </a:ln>
        </p:spPr>
        <p:txBody>
          <a:bodyPr anchorCtr="0" anchor="ctr" bIns="45700" lIns="91425" spcFirstLastPara="1" rIns="91425" wrap="square" tIns="45700">
            <a:normAutofit/>
          </a:bodyPr>
          <a:lstStyle/>
          <a:p>
            <a:pPr indent="0" lvl="0" marL="342900" rtl="0" algn="ctr">
              <a:spcBef>
                <a:spcPts val="0"/>
              </a:spcBef>
              <a:spcAft>
                <a:spcPts val="1200"/>
              </a:spcAft>
              <a:buNone/>
            </a:pPr>
            <a:r>
              <a:rPr lang="en-US" sz="2800">
                <a:solidFill>
                  <a:srgbClr val="000000"/>
                </a:solidFill>
                <a:latin typeface="Calibri"/>
                <a:ea typeface="Calibri"/>
                <a:cs typeface="Calibri"/>
                <a:sym typeface="Calibri"/>
              </a:rPr>
              <a:t>What do you think drives career growth the most?</a:t>
            </a:r>
            <a:endParaRPr sz="1400">
              <a:solidFill>
                <a:srgbClr val="000000"/>
              </a:solidFill>
            </a:endParaRPr>
          </a:p>
        </p:txBody>
      </p:sp>
      <p:sp>
        <p:nvSpPr>
          <p:cNvPr id="101" name="Google Shape;101;p11"/>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05" name="Shape 105"/>
        <p:cNvGrpSpPr/>
        <p:nvPr/>
      </p:nvGrpSpPr>
      <p:grpSpPr>
        <a:xfrm>
          <a:off x="0" y="0"/>
          <a:ext cx="0" cy="0"/>
          <a:chOff x="0" y="0"/>
          <a:chExt cx="0" cy="0"/>
        </a:xfrm>
      </p:grpSpPr>
      <p:sp>
        <p:nvSpPr>
          <p:cNvPr id="106" name="Google Shape;10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What is Career Branding?</a:t>
            </a:r>
            <a:endParaRPr>
              <a:solidFill>
                <a:srgbClr val="000000"/>
              </a:solidFill>
            </a:endParaRPr>
          </a:p>
        </p:txBody>
      </p:sp>
      <p:sp>
        <p:nvSpPr>
          <p:cNvPr id="107" name="Google Shape;10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406400" lvl="0" marL="342900" marR="0" rtl="0" algn="l">
              <a:lnSpc>
                <a:spcPct val="115000"/>
              </a:lnSpc>
              <a:spcBef>
                <a:spcPts val="0"/>
              </a:spcBef>
              <a:spcAft>
                <a:spcPts val="0"/>
              </a:spcAft>
              <a:buClr>
                <a:srgbClr val="000000"/>
              </a:buClr>
              <a:buSzPts val="2800"/>
              <a:buChar char="●"/>
            </a:pPr>
            <a:r>
              <a:rPr b="1" lang="en-US" sz="2800">
                <a:solidFill>
                  <a:srgbClr val="000000"/>
                </a:solidFill>
                <a:latin typeface="Calibri"/>
                <a:ea typeface="Calibri"/>
                <a:cs typeface="Calibri"/>
                <a:sym typeface="Calibri"/>
              </a:rPr>
              <a:t>Hard work without </a:t>
            </a:r>
            <a:r>
              <a:rPr b="1" lang="en-US" sz="2800">
                <a:solidFill>
                  <a:schemeClr val="accent4"/>
                </a:solidFill>
                <a:latin typeface="Calibri"/>
                <a:ea typeface="Calibri"/>
                <a:cs typeface="Calibri"/>
                <a:sym typeface="Calibri"/>
              </a:rPr>
              <a:t>visibility </a:t>
            </a:r>
            <a:r>
              <a:rPr b="1" lang="en-US" sz="2800">
                <a:solidFill>
                  <a:srgbClr val="000000"/>
                </a:solidFill>
                <a:latin typeface="Calibri"/>
                <a:ea typeface="Calibri"/>
                <a:cs typeface="Calibri"/>
                <a:sym typeface="Calibri"/>
              </a:rPr>
              <a:t>is unmeritable </a:t>
            </a:r>
            <a:r>
              <a:rPr lang="en-US" sz="2800">
                <a:solidFill>
                  <a:srgbClr val="000000"/>
                </a:solidFill>
                <a:latin typeface="Calibri"/>
                <a:ea typeface="Calibri"/>
                <a:cs typeface="Calibri"/>
                <a:sym typeface="Calibri"/>
              </a:rPr>
              <a:t>– effort only scales when others can see it.</a:t>
            </a:r>
            <a:endParaRPr sz="2800">
              <a:solidFill>
                <a:srgbClr val="000000"/>
              </a:solidFill>
              <a:latin typeface="Calibri"/>
              <a:ea typeface="Calibri"/>
              <a:cs typeface="Calibri"/>
              <a:sym typeface="Calibri"/>
            </a:endParaRPr>
          </a:p>
          <a:p>
            <a:pPr indent="-406400" lvl="0" marL="342900" marR="0" rtl="0" algn="l">
              <a:lnSpc>
                <a:spcPct val="105000"/>
              </a:lnSpc>
              <a:spcBef>
                <a:spcPts val="1200"/>
              </a:spcBef>
              <a:spcAft>
                <a:spcPts val="0"/>
              </a:spcAft>
              <a:buClr>
                <a:srgbClr val="000000"/>
              </a:buClr>
              <a:buSzPts val="2800"/>
              <a:buChar char="●"/>
            </a:pPr>
            <a:r>
              <a:rPr b="1" lang="en-US" sz="2800">
                <a:solidFill>
                  <a:schemeClr val="accent4"/>
                </a:solidFill>
                <a:latin typeface="Calibri"/>
                <a:ea typeface="Calibri"/>
                <a:cs typeface="Calibri"/>
                <a:sym typeface="Calibri"/>
              </a:rPr>
              <a:t>Recognition </a:t>
            </a:r>
            <a:r>
              <a:rPr b="1" lang="en-US" sz="2800">
                <a:solidFill>
                  <a:srgbClr val="000000"/>
                </a:solidFill>
                <a:latin typeface="Calibri"/>
                <a:ea typeface="Calibri"/>
                <a:cs typeface="Calibri"/>
                <a:sym typeface="Calibri"/>
              </a:rPr>
              <a:t>fuels growth</a:t>
            </a:r>
            <a:r>
              <a:rPr lang="en-US" sz="2800">
                <a:solidFill>
                  <a:srgbClr val="000000"/>
                </a:solidFill>
                <a:latin typeface="Calibri"/>
                <a:ea typeface="Calibri"/>
                <a:cs typeface="Calibri"/>
                <a:sym typeface="Calibri"/>
              </a:rPr>
              <a:t> – careers accelerate when colleagues and leaders trust your impact.</a:t>
            </a:r>
            <a:endParaRPr sz="2800">
              <a:solidFill>
                <a:srgbClr val="000000"/>
              </a:solidFill>
              <a:latin typeface="Calibri"/>
              <a:ea typeface="Calibri"/>
              <a:cs typeface="Calibri"/>
              <a:sym typeface="Calibri"/>
            </a:endParaRPr>
          </a:p>
          <a:p>
            <a:pPr indent="-406400" lvl="0" marL="342900" marR="0" rtl="0" algn="l">
              <a:lnSpc>
                <a:spcPct val="105000"/>
              </a:lnSpc>
              <a:spcBef>
                <a:spcPts val="1200"/>
              </a:spcBef>
              <a:spcAft>
                <a:spcPts val="1200"/>
              </a:spcAft>
              <a:buClr>
                <a:srgbClr val="000000"/>
              </a:buClr>
              <a:buSzPts val="2800"/>
              <a:buChar char="●"/>
            </a:pPr>
            <a:r>
              <a:rPr b="1" lang="en-US" sz="2800">
                <a:solidFill>
                  <a:schemeClr val="accent4"/>
                </a:solidFill>
                <a:latin typeface="Calibri"/>
                <a:ea typeface="Calibri"/>
                <a:cs typeface="Calibri"/>
                <a:sym typeface="Calibri"/>
              </a:rPr>
              <a:t>Habits </a:t>
            </a:r>
            <a:r>
              <a:rPr b="1" lang="en-US" sz="2800">
                <a:solidFill>
                  <a:srgbClr val="000000"/>
                </a:solidFill>
                <a:latin typeface="Calibri"/>
                <a:ea typeface="Calibri"/>
                <a:cs typeface="Calibri"/>
                <a:sym typeface="Calibri"/>
              </a:rPr>
              <a:t>is your reputation system</a:t>
            </a:r>
            <a:r>
              <a:rPr lang="en-US" sz="2800">
                <a:solidFill>
                  <a:srgbClr val="000000"/>
                </a:solidFill>
                <a:latin typeface="Calibri"/>
                <a:ea typeface="Calibri"/>
                <a:cs typeface="Calibri"/>
                <a:sym typeface="Calibri"/>
              </a:rPr>
              <a:t> – the habits you build today compound into opportunities tomorrow.</a:t>
            </a:r>
            <a:endParaRPr sz="2800">
              <a:solidFill>
                <a:srgbClr val="000000"/>
              </a:solidFill>
              <a:latin typeface="Calibri"/>
              <a:ea typeface="Calibri"/>
              <a:cs typeface="Calibri"/>
              <a:sym typeface="Calibri"/>
            </a:endParaRPr>
          </a:p>
        </p:txBody>
      </p:sp>
      <p:sp>
        <p:nvSpPr>
          <p:cNvPr id="108" name="Google Shape;108;p5"/>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12" name="Shape 112"/>
        <p:cNvGrpSpPr/>
        <p:nvPr/>
      </p:nvGrpSpPr>
      <p:grpSpPr>
        <a:xfrm>
          <a:off x="0" y="0"/>
          <a:ext cx="0" cy="0"/>
          <a:chOff x="0" y="0"/>
          <a:chExt cx="0" cy="0"/>
        </a:xfrm>
      </p:grpSpPr>
      <p:sp>
        <p:nvSpPr>
          <p:cNvPr id="113" name="Google Shape;113;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The New Career Reality</a:t>
            </a:r>
            <a:endParaRPr>
              <a:solidFill>
                <a:srgbClr val="000000"/>
              </a:solidFill>
            </a:endParaRPr>
          </a:p>
        </p:txBody>
      </p:sp>
      <p:sp>
        <p:nvSpPr>
          <p:cNvPr id="114" name="Google Shape;114;p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400050" lvl="0" marL="342900" marR="0" rtl="0" algn="l">
              <a:lnSpc>
                <a:spcPct val="115000"/>
              </a:lnSpc>
              <a:spcBef>
                <a:spcPts val="0"/>
              </a:spcBef>
              <a:spcAft>
                <a:spcPts val="0"/>
              </a:spcAft>
              <a:buClr>
                <a:srgbClr val="000000"/>
              </a:buClr>
              <a:buSzPts val="2700"/>
              <a:buFont typeface="Calibri"/>
              <a:buChar char="●"/>
            </a:pPr>
            <a:r>
              <a:rPr b="1" lang="en-US" sz="2700">
                <a:solidFill>
                  <a:srgbClr val="000000"/>
                </a:solidFill>
                <a:latin typeface="Calibri"/>
                <a:ea typeface="Calibri"/>
                <a:cs typeface="Calibri"/>
                <a:sym typeface="Calibri"/>
              </a:rPr>
              <a:t>Remote and global teams</a:t>
            </a:r>
            <a:r>
              <a:rPr lang="en-US" sz="2700">
                <a:solidFill>
                  <a:srgbClr val="000000"/>
                </a:solidFill>
                <a:latin typeface="Calibri"/>
                <a:ea typeface="Calibri"/>
                <a:cs typeface="Calibri"/>
                <a:sym typeface="Calibri"/>
              </a:rPr>
              <a:t> - less in-person recognition</a:t>
            </a:r>
            <a:endParaRPr sz="2700">
              <a:solidFill>
                <a:srgbClr val="000000"/>
              </a:solidFill>
              <a:latin typeface="Calibri"/>
              <a:ea typeface="Calibri"/>
              <a:cs typeface="Calibri"/>
              <a:sym typeface="Calibri"/>
            </a:endParaRPr>
          </a:p>
          <a:p>
            <a:pPr indent="-400050" lvl="0" marL="342900" marR="0" rtl="0" algn="l">
              <a:lnSpc>
                <a:spcPct val="115000"/>
              </a:lnSpc>
              <a:spcBef>
                <a:spcPts val="0"/>
              </a:spcBef>
              <a:spcAft>
                <a:spcPts val="0"/>
              </a:spcAft>
              <a:buClr>
                <a:srgbClr val="000000"/>
              </a:buClr>
              <a:buSzPts val="2700"/>
              <a:buFont typeface="Calibri"/>
              <a:buChar char="●"/>
            </a:pPr>
            <a:r>
              <a:rPr b="1" lang="en-US" sz="2700">
                <a:solidFill>
                  <a:srgbClr val="000000"/>
                </a:solidFill>
                <a:latin typeface="Calibri"/>
                <a:ea typeface="Calibri"/>
                <a:cs typeface="Calibri"/>
                <a:sym typeface="Calibri"/>
              </a:rPr>
              <a:t>Open-source and digital communities</a:t>
            </a:r>
            <a:r>
              <a:rPr lang="en-US" sz="2700">
                <a:solidFill>
                  <a:srgbClr val="000000"/>
                </a:solidFill>
                <a:latin typeface="Calibri"/>
                <a:ea typeface="Calibri"/>
                <a:cs typeface="Calibri"/>
                <a:sym typeface="Calibri"/>
              </a:rPr>
              <a:t> - amplify visibility</a:t>
            </a:r>
            <a:endParaRPr sz="2700">
              <a:solidFill>
                <a:srgbClr val="000000"/>
              </a:solidFill>
              <a:latin typeface="Calibri"/>
              <a:ea typeface="Calibri"/>
              <a:cs typeface="Calibri"/>
              <a:sym typeface="Calibri"/>
            </a:endParaRPr>
          </a:p>
          <a:p>
            <a:pPr indent="-400050" lvl="0" marL="342900" marR="0" rtl="0" algn="l">
              <a:lnSpc>
                <a:spcPct val="115000"/>
              </a:lnSpc>
              <a:spcBef>
                <a:spcPts val="0"/>
              </a:spcBef>
              <a:spcAft>
                <a:spcPts val="0"/>
              </a:spcAft>
              <a:buClr>
                <a:srgbClr val="000000"/>
              </a:buClr>
              <a:buSzPts val="2700"/>
              <a:buFont typeface="Calibri"/>
              <a:buChar char="●"/>
            </a:pPr>
            <a:r>
              <a:rPr b="1" lang="en-US" sz="2700">
                <a:solidFill>
                  <a:srgbClr val="000000"/>
                </a:solidFill>
                <a:latin typeface="Calibri"/>
                <a:ea typeface="Calibri"/>
                <a:cs typeface="Calibri"/>
                <a:sym typeface="Calibri"/>
              </a:rPr>
              <a:t>Flattened org charts</a:t>
            </a:r>
            <a:r>
              <a:rPr lang="en-US" sz="2700">
                <a:solidFill>
                  <a:srgbClr val="000000"/>
                </a:solidFill>
                <a:latin typeface="Calibri"/>
                <a:ea typeface="Calibri"/>
                <a:cs typeface="Calibri"/>
                <a:sym typeface="Calibri"/>
              </a:rPr>
              <a:t> - fewer promotions by tenure alone</a:t>
            </a:r>
            <a:endParaRPr sz="2700">
              <a:solidFill>
                <a:srgbClr val="000000"/>
              </a:solidFill>
              <a:latin typeface="Calibri"/>
              <a:ea typeface="Calibri"/>
              <a:cs typeface="Calibri"/>
              <a:sym typeface="Calibri"/>
            </a:endParaRPr>
          </a:p>
          <a:p>
            <a:pPr indent="-400050" lvl="0" marL="342900" marR="0" rtl="0" algn="l">
              <a:lnSpc>
                <a:spcPct val="115000"/>
              </a:lnSpc>
              <a:spcBef>
                <a:spcPts val="0"/>
              </a:spcBef>
              <a:spcAft>
                <a:spcPts val="0"/>
              </a:spcAft>
              <a:buClr>
                <a:srgbClr val="000000"/>
              </a:buClr>
              <a:buSzPts val="2700"/>
              <a:buFont typeface="Calibri"/>
              <a:buChar char="●"/>
            </a:pPr>
            <a:r>
              <a:rPr b="1" lang="en-US" sz="2700">
                <a:solidFill>
                  <a:srgbClr val="000000"/>
                </a:solidFill>
                <a:latin typeface="Calibri"/>
                <a:ea typeface="Calibri"/>
                <a:cs typeface="Calibri"/>
                <a:sym typeface="Calibri"/>
              </a:rPr>
              <a:t>Rapidly evolving skills</a:t>
            </a:r>
            <a:r>
              <a:rPr lang="en-US" sz="2700">
                <a:solidFill>
                  <a:srgbClr val="000000"/>
                </a:solidFill>
                <a:latin typeface="Calibri"/>
                <a:ea typeface="Calibri"/>
                <a:cs typeface="Calibri"/>
                <a:sym typeface="Calibri"/>
              </a:rPr>
              <a:t> - continuous adaptation matters</a:t>
            </a:r>
            <a:endParaRPr sz="2700">
              <a:solidFill>
                <a:srgbClr val="000000"/>
              </a:solidFill>
              <a:latin typeface="Calibri"/>
              <a:ea typeface="Calibri"/>
              <a:cs typeface="Calibri"/>
              <a:sym typeface="Calibri"/>
            </a:endParaRPr>
          </a:p>
        </p:txBody>
      </p:sp>
      <p:sp>
        <p:nvSpPr>
          <p:cNvPr id="115" name="Google Shape;115;p6"/>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19" name="Shape 119"/>
        <p:cNvGrpSpPr/>
        <p:nvPr/>
      </p:nvGrpSpPr>
      <p:grpSpPr>
        <a:xfrm>
          <a:off x="0" y="0"/>
          <a:ext cx="0" cy="0"/>
          <a:chOff x="0" y="0"/>
          <a:chExt cx="0" cy="0"/>
        </a:xfrm>
      </p:grpSpPr>
      <p:sp>
        <p:nvSpPr>
          <p:cNvPr id="120" name="Google Shape;120;g36cdcb6ff9a_0_5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Why care about Career Branding?</a:t>
            </a:r>
            <a:endParaRPr>
              <a:solidFill>
                <a:srgbClr val="000000"/>
              </a:solidFill>
            </a:endParaRPr>
          </a:p>
        </p:txBody>
      </p:sp>
      <p:sp>
        <p:nvSpPr>
          <p:cNvPr id="121" name="Google Shape;121;g36cdcb6ff9a_0_57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400050" lvl="0" marL="342900" rtl="0" algn="l">
              <a:lnSpc>
                <a:spcPct val="150000"/>
              </a:lnSpc>
              <a:spcBef>
                <a:spcPts val="0"/>
              </a:spcBef>
              <a:spcAft>
                <a:spcPts val="0"/>
              </a:spcAft>
              <a:buClr>
                <a:srgbClr val="000000"/>
              </a:buClr>
              <a:buSzPts val="2700"/>
              <a:buFont typeface="Calibri"/>
              <a:buChar char="●"/>
            </a:pPr>
            <a:r>
              <a:rPr lang="en-US" sz="2700">
                <a:solidFill>
                  <a:srgbClr val="000000"/>
                </a:solidFill>
                <a:latin typeface="Calibri"/>
                <a:ea typeface="Calibri"/>
                <a:cs typeface="Calibri"/>
                <a:sym typeface="Calibri"/>
              </a:rPr>
              <a:t>Average time-to-promotion is longer now - ~4 years vs ~2.5 a decade ago </a:t>
            </a:r>
            <a:r>
              <a:rPr baseline="30000" i="1" lang="en-US" sz="2700">
                <a:solidFill>
                  <a:srgbClr val="000000"/>
                </a:solidFill>
                <a:latin typeface="Calibri"/>
                <a:ea typeface="Calibri"/>
                <a:cs typeface="Calibri"/>
                <a:sym typeface="Calibri"/>
              </a:rPr>
              <a:t>1</a:t>
            </a:r>
            <a:endParaRPr baseline="30000" i="1" sz="2700">
              <a:solidFill>
                <a:srgbClr val="000000"/>
              </a:solidFill>
              <a:latin typeface="Calibri"/>
              <a:ea typeface="Calibri"/>
              <a:cs typeface="Calibri"/>
              <a:sym typeface="Calibri"/>
            </a:endParaRPr>
          </a:p>
          <a:p>
            <a:pPr indent="-400050" lvl="0" marL="342900" rtl="0" algn="l">
              <a:lnSpc>
                <a:spcPct val="150000"/>
              </a:lnSpc>
              <a:spcBef>
                <a:spcPts val="0"/>
              </a:spcBef>
              <a:spcAft>
                <a:spcPts val="0"/>
              </a:spcAft>
              <a:buClr>
                <a:srgbClr val="000000"/>
              </a:buClr>
              <a:buSzPts val="2700"/>
              <a:buFont typeface="Calibri"/>
              <a:buChar char="●"/>
            </a:pPr>
            <a:r>
              <a:rPr lang="en-US" sz="2700">
                <a:solidFill>
                  <a:srgbClr val="000000"/>
                </a:solidFill>
                <a:latin typeface="Calibri"/>
                <a:ea typeface="Calibri"/>
                <a:cs typeface="Calibri"/>
                <a:sym typeface="Calibri"/>
              </a:rPr>
              <a:t>70% or more of jobs being filled are through networking or the hidden job market </a:t>
            </a:r>
            <a:r>
              <a:rPr baseline="30000" i="1" lang="en-US" sz="2700">
                <a:solidFill>
                  <a:srgbClr val="000000"/>
                </a:solidFill>
                <a:latin typeface="Calibri"/>
                <a:ea typeface="Calibri"/>
                <a:cs typeface="Calibri"/>
                <a:sym typeface="Calibri"/>
              </a:rPr>
              <a:t>2</a:t>
            </a:r>
            <a:endParaRPr baseline="30000" i="1" sz="2700">
              <a:solidFill>
                <a:srgbClr val="000000"/>
              </a:solidFill>
              <a:latin typeface="Calibri"/>
              <a:ea typeface="Calibri"/>
              <a:cs typeface="Calibri"/>
              <a:sym typeface="Calibri"/>
            </a:endParaRPr>
          </a:p>
          <a:p>
            <a:pPr indent="-400050" lvl="0" marL="342900" rtl="0" algn="l">
              <a:lnSpc>
                <a:spcPct val="150000"/>
              </a:lnSpc>
              <a:spcBef>
                <a:spcPts val="0"/>
              </a:spcBef>
              <a:spcAft>
                <a:spcPts val="0"/>
              </a:spcAft>
              <a:buClr>
                <a:srgbClr val="000000"/>
              </a:buClr>
              <a:buSzPts val="2700"/>
              <a:buFont typeface="Calibri"/>
              <a:buChar char="●"/>
            </a:pPr>
            <a:r>
              <a:rPr lang="en-US" sz="2700">
                <a:solidFill>
                  <a:srgbClr val="000000"/>
                </a:solidFill>
                <a:latin typeface="Calibri"/>
                <a:ea typeface="Calibri"/>
                <a:cs typeface="Calibri"/>
                <a:sym typeface="Calibri"/>
              </a:rPr>
              <a:t>Visibility + sponsorship outweigh performance alone </a:t>
            </a:r>
            <a:r>
              <a:rPr baseline="30000" i="1" lang="en-US" sz="2700">
                <a:solidFill>
                  <a:srgbClr val="000000"/>
                </a:solidFill>
                <a:latin typeface="Calibri"/>
                <a:ea typeface="Calibri"/>
                <a:cs typeface="Calibri"/>
                <a:sym typeface="Calibri"/>
              </a:rPr>
              <a:t>3</a:t>
            </a:r>
            <a:endParaRPr baseline="30000" i="1" sz="2700">
              <a:solidFill>
                <a:srgbClr val="000000"/>
              </a:solidFill>
              <a:latin typeface="Calibri"/>
              <a:ea typeface="Calibri"/>
              <a:cs typeface="Calibri"/>
              <a:sym typeface="Calibri"/>
            </a:endParaRPr>
          </a:p>
        </p:txBody>
      </p:sp>
      <p:sp>
        <p:nvSpPr>
          <p:cNvPr id="122" name="Google Shape;122;g36cdcb6ff9a_0_576"/>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26" name="Shape 126"/>
        <p:cNvGrpSpPr/>
        <p:nvPr/>
      </p:nvGrpSpPr>
      <p:grpSpPr>
        <a:xfrm>
          <a:off x="0" y="0"/>
          <a:ext cx="0" cy="0"/>
          <a:chOff x="0" y="0"/>
          <a:chExt cx="0" cy="0"/>
        </a:xfrm>
      </p:grpSpPr>
      <p:sp>
        <p:nvSpPr>
          <p:cNvPr id="127" name="Google Shape;127;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The Career Brand Formula</a:t>
            </a:r>
            <a:endParaRPr>
              <a:solidFill>
                <a:srgbClr val="000000"/>
              </a:solidFill>
            </a:endParaRPr>
          </a:p>
        </p:txBody>
      </p:sp>
      <p:sp>
        <p:nvSpPr>
          <p:cNvPr id="128" name="Google Shape;128;p9"/>
          <p:cNvSpPr txBox="1"/>
          <p:nvPr>
            <p:ph idx="1" type="body"/>
          </p:nvPr>
        </p:nvSpPr>
        <p:spPr>
          <a:xfrm>
            <a:off x="385950" y="2701925"/>
            <a:ext cx="8372100" cy="1571700"/>
          </a:xfrm>
          <a:prstGeom prst="rect">
            <a:avLst/>
          </a:prstGeom>
          <a:noFill/>
          <a:ln>
            <a:noFill/>
          </a:ln>
        </p:spPr>
        <p:txBody>
          <a:bodyPr anchorCtr="0" anchor="ctr" bIns="45700" lIns="91425" spcFirstLastPara="1" rIns="91425" wrap="square" tIns="45700">
            <a:normAutofit/>
          </a:bodyPr>
          <a:lstStyle/>
          <a:p>
            <a:pPr indent="0" lvl="0" marL="342900" rtl="0" algn="ctr">
              <a:spcBef>
                <a:spcPts val="640"/>
              </a:spcBef>
              <a:spcAft>
                <a:spcPts val="1200"/>
              </a:spcAft>
              <a:buNone/>
            </a:pPr>
            <a:r>
              <a:rPr b="1" lang="en-US" sz="4300">
                <a:solidFill>
                  <a:schemeClr val="accent4"/>
                </a:solidFill>
                <a:latin typeface="Times New Roman"/>
                <a:ea typeface="Times New Roman"/>
                <a:cs typeface="Times New Roman"/>
                <a:sym typeface="Times New Roman"/>
              </a:rPr>
              <a:t>V</a:t>
            </a:r>
            <a:r>
              <a:rPr b="1" i="1" lang="en-US" sz="2800">
                <a:solidFill>
                  <a:schemeClr val="accent4"/>
                </a:solidFill>
                <a:latin typeface="Times New Roman"/>
                <a:ea typeface="Times New Roman"/>
                <a:cs typeface="Times New Roman"/>
                <a:sym typeface="Times New Roman"/>
              </a:rPr>
              <a:t>isibility</a:t>
            </a:r>
            <a:r>
              <a:rPr b="1" lang="en-US" sz="2800">
                <a:solidFill>
                  <a:schemeClr val="accent4"/>
                </a:solidFill>
                <a:latin typeface="Times New Roman"/>
                <a:ea typeface="Times New Roman"/>
                <a:cs typeface="Times New Roman"/>
                <a:sym typeface="Times New Roman"/>
              </a:rPr>
              <a:t> + </a:t>
            </a:r>
            <a:r>
              <a:rPr b="1" lang="en-US" sz="4200">
                <a:solidFill>
                  <a:schemeClr val="accent4"/>
                </a:solidFill>
                <a:latin typeface="Times New Roman"/>
                <a:ea typeface="Times New Roman"/>
                <a:cs typeface="Times New Roman"/>
                <a:sym typeface="Times New Roman"/>
              </a:rPr>
              <a:t>T</a:t>
            </a:r>
            <a:r>
              <a:rPr b="1" i="1" lang="en-US" sz="2800">
                <a:solidFill>
                  <a:schemeClr val="accent4"/>
                </a:solidFill>
                <a:latin typeface="Times New Roman"/>
                <a:ea typeface="Times New Roman"/>
                <a:cs typeface="Times New Roman"/>
                <a:sym typeface="Times New Roman"/>
              </a:rPr>
              <a:t>rust</a:t>
            </a:r>
            <a:r>
              <a:rPr b="1" lang="en-US" sz="2800">
                <a:solidFill>
                  <a:schemeClr val="accent4"/>
                </a:solidFill>
                <a:latin typeface="Times New Roman"/>
                <a:ea typeface="Times New Roman"/>
                <a:cs typeface="Times New Roman"/>
                <a:sym typeface="Times New Roman"/>
              </a:rPr>
              <a:t> + </a:t>
            </a:r>
            <a:r>
              <a:rPr b="1" lang="en-US" sz="4200">
                <a:solidFill>
                  <a:schemeClr val="accent4"/>
                </a:solidFill>
                <a:latin typeface="Times New Roman"/>
                <a:ea typeface="Times New Roman"/>
                <a:cs typeface="Times New Roman"/>
                <a:sym typeface="Times New Roman"/>
              </a:rPr>
              <a:t>I</a:t>
            </a:r>
            <a:r>
              <a:rPr b="1" i="1" lang="en-US" sz="2800">
                <a:solidFill>
                  <a:schemeClr val="accent4"/>
                </a:solidFill>
                <a:latin typeface="Times New Roman"/>
                <a:ea typeface="Times New Roman"/>
                <a:cs typeface="Times New Roman"/>
                <a:sym typeface="Times New Roman"/>
              </a:rPr>
              <a:t>mpact</a:t>
            </a:r>
            <a:r>
              <a:rPr b="1" lang="en-US" sz="2800">
                <a:solidFill>
                  <a:schemeClr val="accent4"/>
                </a:solidFill>
                <a:latin typeface="Times New Roman"/>
                <a:ea typeface="Times New Roman"/>
                <a:cs typeface="Times New Roman"/>
                <a:sym typeface="Times New Roman"/>
              </a:rPr>
              <a:t> = </a:t>
            </a:r>
            <a:r>
              <a:rPr b="1" lang="en-US" sz="4400">
                <a:solidFill>
                  <a:schemeClr val="accent4"/>
                </a:solidFill>
                <a:latin typeface="Times New Roman"/>
                <a:ea typeface="Times New Roman"/>
                <a:cs typeface="Times New Roman"/>
                <a:sym typeface="Times New Roman"/>
              </a:rPr>
              <a:t>C</a:t>
            </a:r>
            <a:r>
              <a:rPr b="1" lang="en-US" sz="2800">
                <a:solidFill>
                  <a:schemeClr val="accent4"/>
                </a:solidFill>
                <a:latin typeface="Times New Roman"/>
                <a:ea typeface="Times New Roman"/>
                <a:cs typeface="Times New Roman"/>
                <a:sym typeface="Times New Roman"/>
              </a:rPr>
              <a:t>areer </a:t>
            </a:r>
            <a:r>
              <a:rPr b="1" lang="en-US" sz="4400">
                <a:solidFill>
                  <a:schemeClr val="accent4"/>
                </a:solidFill>
                <a:latin typeface="Times New Roman"/>
                <a:ea typeface="Times New Roman"/>
                <a:cs typeface="Times New Roman"/>
                <a:sym typeface="Times New Roman"/>
              </a:rPr>
              <a:t>B</a:t>
            </a:r>
            <a:r>
              <a:rPr b="1" lang="en-US" sz="2800">
                <a:solidFill>
                  <a:schemeClr val="accent4"/>
                </a:solidFill>
                <a:latin typeface="Times New Roman"/>
                <a:ea typeface="Times New Roman"/>
                <a:cs typeface="Times New Roman"/>
                <a:sym typeface="Times New Roman"/>
              </a:rPr>
              <a:t>rand</a:t>
            </a:r>
            <a:endParaRPr b="1" sz="2800">
              <a:solidFill>
                <a:schemeClr val="accent4"/>
              </a:solidFill>
              <a:latin typeface="Times New Roman"/>
              <a:ea typeface="Times New Roman"/>
              <a:cs typeface="Times New Roman"/>
              <a:sym typeface="Times New Roman"/>
            </a:endParaRPr>
          </a:p>
        </p:txBody>
      </p:sp>
      <p:sp>
        <p:nvSpPr>
          <p:cNvPr id="129" name="Google Shape;129;p9"/>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33" name="Shape 133"/>
        <p:cNvGrpSpPr/>
        <p:nvPr/>
      </p:nvGrpSpPr>
      <p:grpSpPr>
        <a:xfrm>
          <a:off x="0" y="0"/>
          <a:ext cx="0" cy="0"/>
          <a:chOff x="0" y="0"/>
          <a:chExt cx="0" cy="0"/>
        </a:xfrm>
      </p:grpSpPr>
      <p:sp>
        <p:nvSpPr>
          <p:cNvPr id="134" name="Google Shape;134;p8"/>
          <p:cNvSpPr txBox="1"/>
          <p:nvPr>
            <p:ph type="title"/>
          </p:nvPr>
        </p:nvSpPr>
        <p:spPr>
          <a:xfrm>
            <a:off x="3541775" y="1067350"/>
            <a:ext cx="5352300" cy="4060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sz="2700">
                <a:solidFill>
                  <a:schemeClr val="dk1"/>
                </a:solidFill>
                <a:latin typeface="Calibri"/>
                <a:ea typeface="Calibri"/>
                <a:cs typeface="Calibri"/>
                <a:sym typeface="Calibri"/>
              </a:rPr>
              <a:t>“Work on things that matter and share what you learn.”</a:t>
            </a:r>
            <a:endParaRPr sz="2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4400"/>
              <a:buFont typeface="Calibri"/>
              <a:buNone/>
            </a:pPr>
            <a:r>
              <a:t/>
            </a:r>
            <a:endParaRPr sz="2700">
              <a:solidFill>
                <a:schemeClr val="dk1"/>
              </a:solidFill>
              <a:latin typeface="Calibri"/>
              <a:ea typeface="Calibri"/>
              <a:cs typeface="Calibri"/>
              <a:sym typeface="Calibri"/>
            </a:endParaRPr>
          </a:p>
          <a:p>
            <a:pPr indent="457200" lvl="0" marL="457200" rtl="0" algn="l">
              <a:spcBef>
                <a:spcPts val="0"/>
              </a:spcBef>
              <a:spcAft>
                <a:spcPts val="0"/>
              </a:spcAft>
              <a:buClr>
                <a:schemeClr val="dk1"/>
              </a:buClr>
              <a:buSzPts val="4400"/>
              <a:buFont typeface="Calibri"/>
              <a:buNone/>
            </a:pPr>
            <a:r>
              <a:rPr lang="en-US" sz="2300">
                <a:solidFill>
                  <a:schemeClr val="dk1"/>
                </a:solidFill>
                <a:latin typeface="Calibri"/>
                <a:ea typeface="Calibri"/>
                <a:cs typeface="Calibri"/>
                <a:sym typeface="Calibri"/>
              </a:rPr>
              <a:t>   </a:t>
            </a:r>
            <a:r>
              <a:rPr lang="en-US" sz="2300">
                <a:solidFill>
                  <a:schemeClr val="dk1"/>
                </a:solidFill>
                <a:latin typeface="Calibri"/>
                <a:ea typeface="Calibri"/>
                <a:cs typeface="Calibri"/>
                <a:sym typeface="Calibri"/>
              </a:rPr>
              <a:t>Kelsey Hightower</a:t>
            </a:r>
            <a:endParaRPr sz="2300">
              <a:solidFill>
                <a:schemeClr val="dk1"/>
              </a:solidFill>
              <a:latin typeface="Calibri"/>
              <a:ea typeface="Calibri"/>
              <a:cs typeface="Calibri"/>
              <a:sym typeface="Calibri"/>
            </a:endParaRPr>
          </a:p>
          <a:p>
            <a:pPr indent="457200" lvl="0" marL="457200" rtl="0" algn="l">
              <a:spcBef>
                <a:spcPts val="0"/>
              </a:spcBef>
              <a:spcAft>
                <a:spcPts val="0"/>
              </a:spcAft>
              <a:buClr>
                <a:schemeClr val="dk1"/>
              </a:buClr>
              <a:buSzPts val="4400"/>
              <a:buFont typeface="Calibri"/>
              <a:buNone/>
            </a:pPr>
            <a:r>
              <a:rPr lang="en-US" sz="2300">
                <a:solidFill>
                  <a:schemeClr val="dk1"/>
                </a:solidFill>
                <a:latin typeface="Calibri"/>
                <a:ea typeface="Calibri"/>
                <a:cs typeface="Calibri"/>
                <a:sym typeface="Calibri"/>
              </a:rPr>
              <a:t>   Distinguished Engineer @ Google</a:t>
            </a:r>
            <a:endParaRPr sz="900"/>
          </a:p>
        </p:txBody>
      </p:sp>
      <p:sp>
        <p:nvSpPr>
          <p:cNvPr id="135" name="Google Shape;135;p8"/>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36" name="Google Shape;136;p8"/>
          <p:cNvPicPr preferRelativeResize="0"/>
          <p:nvPr/>
        </p:nvPicPr>
        <p:blipFill>
          <a:blip r:embed="rId3">
            <a:alphaModFix/>
          </a:blip>
          <a:stretch>
            <a:fillRect/>
          </a:stretch>
        </p:blipFill>
        <p:spPr>
          <a:xfrm>
            <a:off x="944650" y="2202100"/>
            <a:ext cx="1800225" cy="1790700"/>
          </a:xfrm>
          <a:prstGeom prst="rect">
            <a:avLst/>
          </a:prstGeom>
          <a:noFill/>
          <a:ln>
            <a:noFill/>
          </a:ln>
        </p:spPr>
      </p:pic>
      <p:pic>
        <p:nvPicPr>
          <p:cNvPr id="137" name="Google Shape;137;p8"/>
          <p:cNvPicPr preferRelativeResize="0"/>
          <p:nvPr/>
        </p:nvPicPr>
        <p:blipFill>
          <a:blip r:embed="rId4">
            <a:alphaModFix/>
          </a:blip>
          <a:stretch>
            <a:fillRect/>
          </a:stretch>
        </p:blipFill>
        <p:spPr>
          <a:xfrm>
            <a:off x="944650" y="2202100"/>
            <a:ext cx="1800225" cy="1790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41" name="Shape 141"/>
        <p:cNvGrpSpPr/>
        <p:nvPr/>
      </p:nvGrpSpPr>
      <p:grpSpPr>
        <a:xfrm>
          <a:off x="0" y="0"/>
          <a:ext cx="0" cy="0"/>
          <a:chOff x="0" y="0"/>
          <a:chExt cx="0" cy="0"/>
        </a:xfrm>
      </p:grpSpPr>
      <p:sp>
        <p:nvSpPr>
          <p:cNvPr id="142" name="Google Shape;142;g36cdcb6ff9a_0_242"/>
          <p:cNvSpPr txBox="1"/>
          <p:nvPr>
            <p:ph type="title"/>
          </p:nvPr>
        </p:nvSpPr>
        <p:spPr>
          <a:xfrm>
            <a:off x="265500" y="1834132"/>
            <a:ext cx="4045200" cy="2069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Habits</a:t>
            </a:r>
            <a:endParaRPr/>
          </a:p>
        </p:txBody>
      </p:sp>
      <p:sp>
        <p:nvSpPr>
          <p:cNvPr id="143" name="Google Shape;143;g36cdcb6ff9a_0_242"/>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144" name="Google Shape;144;g36cdcb6ff9a_0_242"/>
          <p:cNvSpPr txBox="1"/>
          <p:nvPr>
            <p:ph idx="2" type="body"/>
          </p:nvPr>
        </p:nvSpPr>
        <p:spPr>
          <a:xfrm>
            <a:off x="4939500" y="965600"/>
            <a:ext cx="3837000" cy="38829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US" sz="2500"/>
              <a:t>Compounding Small Actions for Big Returns</a:t>
            </a:r>
            <a:endParaRPr sz="2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48" name="Shape 148"/>
        <p:cNvGrpSpPr/>
        <p:nvPr/>
      </p:nvGrpSpPr>
      <p:grpSpPr>
        <a:xfrm>
          <a:off x="0" y="0"/>
          <a:ext cx="0" cy="0"/>
          <a:chOff x="0" y="0"/>
          <a:chExt cx="0" cy="0"/>
        </a:xfrm>
      </p:grpSpPr>
      <p:sp>
        <p:nvSpPr>
          <p:cNvPr id="149" name="Google Shape;149;g36cdcb6ff9a_0_3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Poll #2</a:t>
            </a:r>
            <a:endParaRPr>
              <a:solidFill>
                <a:srgbClr val="000000"/>
              </a:solidFill>
            </a:endParaRPr>
          </a:p>
        </p:txBody>
      </p:sp>
      <p:sp>
        <p:nvSpPr>
          <p:cNvPr id="150" name="Google Shape;150;g36cdcb6ff9a_0_339"/>
          <p:cNvSpPr txBox="1"/>
          <p:nvPr>
            <p:ph idx="1" type="body"/>
          </p:nvPr>
        </p:nvSpPr>
        <p:spPr>
          <a:xfrm>
            <a:off x="457200" y="1600200"/>
            <a:ext cx="8229600" cy="2995200"/>
          </a:xfrm>
          <a:prstGeom prst="rect">
            <a:avLst/>
          </a:prstGeom>
          <a:noFill/>
          <a:ln>
            <a:noFill/>
          </a:ln>
        </p:spPr>
        <p:txBody>
          <a:bodyPr anchorCtr="0" anchor="ctr" bIns="45700" lIns="91425" spcFirstLastPara="1" rIns="91425" wrap="square" tIns="45700">
            <a:normAutofit/>
          </a:bodyPr>
          <a:lstStyle/>
          <a:p>
            <a:pPr indent="0" lvl="0" marL="342900" rtl="0" algn="ctr">
              <a:spcBef>
                <a:spcPts val="0"/>
              </a:spcBef>
              <a:spcAft>
                <a:spcPts val="1200"/>
              </a:spcAft>
              <a:buNone/>
            </a:pPr>
            <a:r>
              <a:rPr lang="en-US" sz="3200">
                <a:solidFill>
                  <a:srgbClr val="000000"/>
                </a:solidFill>
                <a:latin typeface="Calibri"/>
                <a:ea typeface="Calibri"/>
                <a:cs typeface="Calibri"/>
                <a:sym typeface="Calibri"/>
              </a:rPr>
              <a:t>Have you written documentation before?</a:t>
            </a:r>
            <a:endParaRPr>
              <a:solidFill>
                <a:srgbClr val="000000"/>
              </a:solidFill>
            </a:endParaRPr>
          </a:p>
        </p:txBody>
      </p:sp>
      <p:sp>
        <p:nvSpPr>
          <p:cNvPr id="151" name="Google Shape;151;g36cdcb6ff9a_0_339"/>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55" name="Shape 155"/>
        <p:cNvGrpSpPr/>
        <p:nvPr/>
      </p:nvGrpSpPr>
      <p:grpSpPr>
        <a:xfrm>
          <a:off x="0" y="0"/>
          <a:ext cx="0" cy="0"/>
          <a:chOff x="0" y="0"/>
          <a:chExt cx="0" cy="0"/>
        </a:xfrm>
      </p:grpSpPr>
      <p:sp>
        <p:nvSpPr>
          <p:cNvPr id="156" name="Google Shape;15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3160">
                <a:solidFill>
                  <a:srgbClr val="000000"/>
                </a:solidFill>
                <a:latin typeface="Calibri"/>
                <a:ea typeface="Calibri"/>
                <a:cs typeface="Calibri"/>
                <a:sym typeface="Calibri"/>
              </a:rPr>
              <a:t>Habit #1: Write Living </a:t>
            </a:r>
            <a:r>
              <a:rPr b="1" lang="en-US" sz="3160">
                <a:solidFill>
                  <a:schemeClr val="accent4"/>
                </a:solidFill>
                <a:latin typeface="Calibri"/>
                <a:ea typeface="Calibri"/>
                <a:cs typeface="Calibri"/>
                <a:sym typeface="Calibri"/>
              </a:rPr>
              <a:t>Documentation</a:t>
            </a:r>
            <a:endParaRPr b="1" sz="1900">
              <a:solidFill>
                <a:schemeClr val="accent4"/>
              </a:solidFill>
            </a:endParaRPr>
          </a:p>
        </p:txBody>
      </p:sp>
      <p:sp>
        <p:nvSpPr>
          <p:cNvPr id="157" name="Google Shape;157;p13"/>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58" name="Google Shape;158;p13"/>
          <p:cNvGraphicFramePr/>
          <p:nvPr/>
        </p:nvGraphicFramePr>
        <p:xfrm>
          <a:off x="952500" y="1578325"/>
          <a:ext cx="3000000" cy="3000000"/>
        </p:xfrm>
        <a:graphic>
          <a:graphicData uri="http://schemas.openxmlformats.org/drawingml/2006/table">
            <a:tbl>
              <a:tblPr>
                <a:noFill/>
                <a:tableStyleId>{17448C32-5AD0-497D-A96F-C48BE2F4132A}</a:tableStyleId>
              </a:tblPr>
              <a:tblGrid>
                <a:gridCol w="2413000"/>
                <a:gridCol w="2413000"/>
                <a:gridCol w="2413000"/>
              </a:tblGrid>
              <a:tr h="381000">
                <a:tc>
                  <a:txBody>
                    <a:bodyPr/>
                    <a:lstStyle/>
                    <a:p>
                      <a:pPr indent="0" lvl="0" marL="0" rtl="0" algn="ctr">
                        <a:lnSpc>
                          <a:spcPct val="115000"/>
                        </a:lnSpc>
                        <a:spcBef>
                          <a:spcPts val="0"/>
                        </a:spcBef>
                        <a:spcAft>
                          <a:spcPts val="0"/>
                        </a:spcAft>
                        <a:buNone/>
                      </a:pPr>
                      <a:r>
                        <a:rPr b="1" lang="en-US" sz="1500">
                          <a:latin typeface="Calibri"/>
                          <a:ea typeface="Calibri"/>
                          <a:cs typeface="Calibri"/>
                          <a:sym typeface="Calibri"/>
                        </a:rPr>
                        <a:t>Type</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500">
                          <a:latin typeface="Calibri"/>
                          <a:ea typeface="Calibri"/>
                          <a:cs typeface="Calibri"/>
                          <a:sym typeface="Calibri"/>
                        </a:rPr>
                        <a:t>Purpose</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500">
                          <a:latin typeface="Calibri"/>
                          <a:ea typeface="Calibri"/>
                          <a:cs typeface="Calibri"/>
                          <a:sym typeface="Calibri"/>
                        </a:rPr>
                        <a:t>Value</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500">
                          <a:latin typeface="Calibri"/>
                          <a:ea typeface="Calibri"/>
                          <a:cs typeface="Calibri"/>
                          <a:sym typeface="Calibri"/>
                        </a:rPr>
                        <a:t>Wiki</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Living knowledge base (FAQs, how-tos)</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Searchable, collaborative</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500">
                          <a:latin typeface="Calibri"/>
                          <a:ea typeface="Calibri"/>
                          <a:cs typeface="Calibri"/>
                          <a:sym typeface="Calibri"/>
                        </a:rPr>
                        <a:t>Playbook</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Best practices &amp; strategies</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Consistency in decisions</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500">
                          <a:latin typeface="Calibri"/>
                          <a:ea typeface="Calibri"/>
                          <a:cs typeface="Calibri"/>
                          <a:sym typeface="Calibri"/>
                        </a:rPr>
                        <a:t>Runbook</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Step-by-step operational tasks</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Reliable execution</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500">
                          <a:latin typeface="Calibri"/>
                          <a:ea typeface="Calibri"/>
                          <a:cs typeface="Calibri"/>
                          <a:sym typeface="Calibri"/>
                        </a:rPr>
                        <a:t>Postmortem</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Retrospective after failure</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Lessons &amp; prevention</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500">
                          <a:latin typeface="Calibri"/>
                          <a:ea typeface="Calibri"/>
                          <a:cs typeface="Calibri"/>
                          <a:sym typeface="Calibri"/>
                        </a:rPr>
                        <a:t>API / Reference</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Technical specs &amp; endpoints</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Enables adoption</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500">
                          <a:latin typeface="Calibri"/>
                          <a:ea typeface="Calibri"/>
                          <a:cs typeface="Calibri"/>
                          <a:sym typeface="Calibri"/>
                        </a:rPr>
                        <a:t>Design Doc / ADR</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Records trade-offs &amp; decisions</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Preserves context</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500">
                          <a:latin typeface="Calibri"/>
                          <a:ea typeface="Calibri"/>
                          <a:cs typeface="Calibri"/>
                          <a:sym typeface="Calibri"/>
                        </a:rPr>
                        <a:t>Onboarding Guides</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For new hires</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Scales mentorship</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500">
                          <a:latin typeface="Calibri"/>
                          <a:ea typeface="Calibri"/>
                          <a:cs typeface="Calibri"/>
                          <a:sym typeface="Calibri"/>
                        </a:rPr>
                        <a:t>Production Support Rotation</a:t>
                      </a:r>
                      <a:endParaRPr b="1"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On-call handbooks &amp; runbooks</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Ensures reliable support</a:t>
                      </a:r>
                      <a:endParaRPr sz="1500">
                        <a:latin typeface="Calibri"/>
                        <a:ea typeface="Calibri"/>
                        <a:cs typeface="Calibri"/>
                        <a:sym typeface="Calibri"/>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62" name="Shape 162"/>
        <p:cNvGrpSpPr/>
        <p:nvPr/>
      </p:nvGrpSpPr>
      <p:grpSpPr>
        <a:xfrm>
          <a:off x="0" y="0"/>
          <a:ext cx="0" cy="0"/>
          <a:chOff x="0" y="0"/>
          <a:chExt cx="0" cy="0"/>
        </a:xfrm>
      </p:grpSpPr>
      <p:sp>
        <p:nvSpPr>
          <p:cNvPr id="163" name="Google Shape;163;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3559">
                <a:solidFill>
                  <a:srgbClr val="000000"/>
                </a:solidFill>
                <a:latin typeface="Calibri"/>
                <a:ea typeface="Calibri"/>
                <a:cs typeface="Calibri"/>
                <a:sym typeface="Calibri"/>
              </a:rPr>
              <a:t>Habit #2: Become a </a:t>
            </a:r>
            <a:r>
              <a:rPr b="1" lang="en-US" sz="3559">
                <a:solidFill>
                  <a:schemeClr val="accent4"/>
                </a:solidFill>
                <a:latin typeface="Calibri"/>
                <a:ea typeface="Calibri"/>
                <a:cs typeface="Calibri"/>
                <a:sym typeface="Calibri"/>
              </a:rPr>
              <a:t>Subject Matter Expert</a:t>
            </a:r>
            <a:endParaRPr b="1" sz="2300">
              <a:solidFill>
                <a:schemeClr val="accent4"/>
              </a:solidFill>
            </a:endParaRPr>
          </a:p>
        </p:txBody>
      </p:sp>
      <p:sp>
        <p:nvSpPr>
          <p:cNvPr id="164" name="Google Shape;164;p15"/>
          <p:cNvSpPr txBox="1"/>
          <p:nvPr>
            <p:ph idx="1" type="body"/>
          </p:nvPr>
        </p:nvSpPr>
        <p:spPr>
          <a:xfrm>
            <a:off x="457200" y="1354851"/>
            <a:ext cx="8229600" cy="4771200"/>
          </a:xfrm>
          <a:prstGeom prst="rect">
            <a:avLst/>
          </a:prstGeom>
          <a:noFill/>
          <a:ln>
            <a:noFill/>
          </a:ln>
        </p:spPr>
        <p:txBody>
          <a:bodyPr anchorCtr="0" anchor="t" bIns="45700" lIns="91425" spcFirstLastPara="1" rIns="91425" wrap="square" tIns="45700">
            <a:noAutofit/>
          </a:bodyPr>
          <a:lstStyle/>
          <a:p>
            <a:pPr indent="0" lvl="0" marL="0" rtl="0" algn="ctr">
              <a:spcBef>
                <a:spcPts val="1200"/>
              </a:spcBef>
              <a:spcAft>
                <a:spcPts val="0"/>
              </a:spcAft>
              <a:buNone/>
            </a:pPr>
            <a:r>
              <a:rPr b="1" i="1" lang="en-US">
                <a:solidFill>
                  <a:srgbClr val="000000"/>
                </a:solidFill>
                <a:latin typeface="Calibri"/>
                <a:ea typeface="Calibri"/>
                <a:cs typeface="Calibri"/>
                <a:sym typeface="Calibri"/>
              </a:rPr>
              <a:t>Pick one system - own it - deepen knowledge.</a:t>
            </a:r>
            <a:endParaRPr b="1" i="1">
              <a:solidFill>
                <a:srgbClr val="000000"/>
              </a:solidFill>
              <a:latin typeface="Calibri"/>
              <a:ea typeface="Calibri"/>
              <a:cs typeface="Calibri"/>
              <a:sym typeface="Calibri"/>
            </a:endParaRPr>
          </a:p>
          <a:p>
            <a:pPr indent="-355600" lvl="0" marL="457200" rtl="0" algn="l">
              <a:spcBef>
                <a:spcPts val="120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Why it matters:</a:t>
            </a:r>
            <a:r>
              <a:rPr lang="en-US" sz="2000">
                <a:solidFill>
                  <a:srgbClr val="000000"/>
                </a:solidFill>
                <a:latin typeface="Calibri"/>
                <a:ea typeface="Calibri"/>
                <a:cs typeface="Calibri"/>
                <a:sym typeface="Calibri"/>
              </a:rPr>
              <a:t> Specialists are magnets for trust and visibility.</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What it looks like:</a:t>
            </a:r>
            <a:r>
              <a:rPr lang="en-US" sz="2000">
                <a:solidFill>
                  <a:srgbClr val="000000"/>
                </a:solidFill>
                <a:latin typeface="Calibri"/>
                <a:ea typeface="Calibri"/>
                <a:cs typeface="Calibri"/>
                <a:sym typeface="Calibri"/>
              </a:rPr>
              <a:t> You become the "go-to" person when questions arise.</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How to build it:</a:t>
            </a:r>
            <a:r>
              <a:rPr lang="en-US" sz="2000">
                <a:solidFill>
                  <a:srgbClr val="000000"/>
                </a:solidFill>
                <a:latin typeface="Calibri"/>
                <a:ea typeface="Calibri"/>
                <a:cs typeface="Calibri"/>
                <a:sym typeface="Calibri"/>
              </a:rPr>
              <a:t> Study deeply - learn history, edge cases, and trade-offs.</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Proof of expertise:</a:t>
            </a:r>
            <a:r>
              <a:rPr lang="en-US" sz="2000">
                <a:solidFill>
                  <a:srgbClr val="000000"/>
                </a:solidFill>
                <a:latin typeface="Calibri"/>
                <a:ea typeface="Calibri"/>
                <a:cs typeface="Calibri"/>
                <a:sym typeface="Calibri"/>
              </a:rPr>
              <a:t> Document clearly, answer questions, lead knowledge-sharing.</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Career impact:</a:t>
            </a:r>
            <a:r>
              <a:rPr lang="en-US" sz="2000">
                <a:solidFill>
                  <a:srgbClr val="000000"/>
                </a:solidFill>
                <a:latin typeface="Calibri"/>
                <a:ea typeface="Calibri"/>
                <a:cs typeface="Calibri"/>
                <a:sym typeface="Calibri"/>
              </a:rPr>
              <a:t> Being an SME opens doors to leadership, mentorship, and recognition.</a:t>
            </a:r>
            <a:endParaRPr sz="2000">
              <a:solidFill>
                <a:srgbClr val="000000"/>
              </a:solidFill>
              <a:latin typeface="Calibri"/>
              <a:ea typeface="Calibri"/>
              <a:cs typeface="Calibri"/>
              <a:sym typeface="Calibri"/>
            </a:endParaRPr>
          </a:p>
        </p:txBody>
      </p:sp>
      <p:sp>
        <p:nvSpPr>
          <p:cNvPr id="165" name="Google Shape;165;p15"/>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69" name="Shape 169"/>
        <p:cNvGrpSpPr/>
        <p:nvPr/>
      </p:nvGrpSpPr>
      <p:grpSpPr>
        <a:xfrm>
          <a:off x="0" y="0"/>
          <a:ext cx="0" cy="0"/>
          <a:chOff x="0" y="0"/>
          <a:chExt cx="0" cy="0"/>
        </a:xfrm>
      </p:grpSpPr>
      <p:sp>
        <p:nvSpPr>
          <p:cNvPr id="170" name="Google Shape;17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3160">
                <a:solidFill>
                  <a:srgbClr val="000000"/>
                </a:solidFill>
                <a:latin typeface="Calibri"/>
                <a:ea typeface="Calibri"/>
                <a:cs typeface="Calibri"/>
                <a:sym typeface="Calibri"/>
              </a:rPr>
              <a:t>Habit #3: Lead </a:t>
            </a:r>
            <a:r>
              <a:rPr b="1" lang="en-US" sz="3160">
                <a:solidFill>
                  <a:schemeClr val="accent4"/>
                </a:solidFill>
                <a:latin typeface="Calibri"/>
                <a:ea typeface="Calibri"/>
                <a:cs typeface="Calibri"/>
                <a:sym typeface="Calibri"/>
              </a:rPr>
              <a:t>Knowledge Sharing Workshops</a:t>
            </a:r>
            <a:endParaRPr b="1" sz="1900">
              <a:solidFill>
                <a:schemeClr val="accent4"/>
              </a:solidFill>
            </a:endParaRPr>
          </a:p>
        </p:txBody>
      </p:sp>
      <p:sp>
        <p:nvSpPr>
          <p:cNvPr id="171" name="Google Shape;171;p17"/>
          <p:cNvSpPr txBox="1"/>
          <p:nvPr>
            <p:ph idx="1" type="body"/>
          </p:nvPr>
        </p:nvSpPr>
        <p:spPr>
          <a:xfrm>
            <a:off x="457200" y="1283699"/>
            <a:ext cx="8229600" cy="4857600"/>
          </a:xfrm>
          <a:prstGeom prst="rect">
            <a:avLst/>
          </a:prstGeom>
          <a:noFill/>
          <a:ln>
            <a:noFill/>
          </a:ln>
        </p:spPr>
        <p:txBody>
          <a:bodyPr anchorCtr="0" anchor="t" bIns="45700" lIns="91425" spcFirstLastPara="1" rIns="91425" wrap="square" tIns="45700">
            <a:noAutofit/>
          </a:bodyPr>
          <a:lstStyle/>
          <a:p>
            <a:pPr indent="0" lvl="0" marL="0" rtl="0" algn="ctr">
              <a:spcBef>
                <a:spcPts val="1200"/>
              </a:spcBef>
              <a:spcAft>
                <a:spcPts val="0"/>
              </a:spcAft>
              <a:buNone/>
            </a:pPr>
            <a:r>
              <a:rPr b="1" i="1" lang="en-US" sz="2000">
                <a:solidFill>
                  <a:srgbClr val="000000"/>
                </a:solidFill>
                <a:latin typeface="Calibri"/>
                <a:ea typeface="Calibri"/>
                <a:cs typeface="Calibri"/>
                <a:sym typeface="Calibri"/>
              </a:rPr>
              <a:t>Visibility + Leadership</a:t>
            </a:r>
            <a:endParaRPr b="1" i="1" sz="2000">
              <a:solidFill>
                <a:srgbClr val="000000"/>
              </a:solidFill>
              <a:latin typeface="Calibri"/>
              <a:ea typeface="Calibri"/>
              <a:cs typeface="Calibri"/>
              <a:sym typeface="Calibri"/>
            </a:endParaRPr>
          </a:p>
          <a:p>
            <a:pPr indent="-355600" lvl="0" marL="457200" rtl="0" algn="l">
              <a:spcBef>
                <a:spcPts val="120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Why it matters:</a:t>
            </a:r>
            <a:r>
              <a:rPr lang="en-US" sz="2000">
                <a:solidFill>
                  <a:srgbClr val="000000"/>
                </a:solidFill>
                <a:latin typeface="Calibri"/>
                <a:ea typeface="Calibri"/>
                <a:cs typeface="Calibri"/>
                <a:sym typeface="Calibri"/>
              </a:rPr>
              <a:t> Teaching others amplifies your expertise and positions you as a leader.</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What it looks like:</a:t>
            </a:r>
            <a:r>
              <a:rPr lang="en-US" sz="2000">
                <a:solidFill>
                  <a:srgbClr val="000000"/>
                </a:solidFill>
                <a:latin typeface="Calibri"/>
                <a:ea typeface="Calibri"/>
                <a:cs typeface="Calibri"/>
                <a:sym typeface="Calibri"/>
              </a:rPr>
              <a:t> Running a workshop or short talk that helps peers solve problems.</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How to build it:</a:t>
            </a:r>
            <a:r>
              <a:rPr lang="en-US" sz="2000">
                <a:solidFill>
                  <a:srgbClr val="000000"/>
                </a:solidFill>
                <a:latin typeface="Calibri"/>
                <a:ea typeface="Calibri"/>
                <a:cs typeface="Calibri"/>
                <a:sym typeface="Calibri"/>
              </a:rPr>
              <a:t> Start small - present lessons learned from a project or demo a tool you use.</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Proof of expertise:</a:t>
            </a:r>
            <a:r>
              <a:rPr lang="en-US" sz="2000">
                <a:solidFill>
                  <a:srgbClr val="000000"/>
                </a:solidFill>
                <a:latin typeface="Calibri"/>
                <a:ea typeface="Calibri"/>
                <a:cs typeface="Calibri"/>
                <a:sym typeface="Calibri"/>
              </a:rPr>
              <a:t> Slide decks, recordings, or notes that others can revisit.</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Career impact:</a:t>
            </a:r>
            <a:r>
              <a:rPr lang="en-US" sz="2000">
                <a:solidFill>
                  <a:srgbClr val="000000"/>
                </a:solidFill>
                <a:latin typeface="Calibri"/>
                <a:ea typeface="Calibri"/>
                <a:cs typeface="Calibri"/>
                <a:sym typeface="Calibri"/>
              </a:rPr>
              <a:t> Knowledge sharing builds visibility, establishes leadership, and creates lasting influence.</a:t>
            </a:r>
            <a:endParaRPr sz="2000">
              <a:solidFill>
                <a:srgbClr val="000000"/>
              </a:solidFill>
              <a:latin typeface="Calibri"/>
              <a:ea typeface="Calibri"/>
              <a:cs typeface="Calibri"/>
              <a:sym typeface="Calibri"/>
            </a:endParaRPr>
          </a:p>
        </p:txBody>
      </p:sp>
      <p:sp>
        <p:nvSpPr>
          <p:cNvPr id="172" name="Google Shape;172;p17"/>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76" name="Shape 176"/>
        <p:cNvGrpSpPr/>
        <p:nvPr/>
      </p:nvGrpSpPr>
      <p:grpSpPr>
        <a:xfrm>
          <a:off x="0" y="0"/>
          <a:ext cx="0" cy="0"/>
          <a:chOff x="0" y="0"/>
          <a:chExt cx="0" cy="0"/>
        </a:xfrm>
      </p:grpSpPr>
      <p:sp>
        <p:nvSpPr>
          <p:cNvPr id="177" name="Google Shape;177;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Habit #4: </a:t>
            </a:r>
            <a:r>
              <a:rPr b="1" lang="en-US" sz="4400">
                <a:solidFill>
                  <a:schemeClr val="accent4"/>
                </a:solidFill>
                <a:latin typeface="Calibri"/>
                <a:ea typeface="Calibri"/>
                <a:cs typeface="Calibri"/>
                <a:sym typeface="Calibri"/>
              </a:rPr>
              <a:t>Automate Pain Points</a:t>
            </a:r>
            <a:endParaRPr b="1">
              <a:solidFill>
                <a:schemeClr val="accent4"/>
              </a:solidFill>
            </a:endParaRPr>
          </a:p>
        </p:txBody>
      </p:sp>
      <p:sp>
        <p:nvSpPr>
          <p:cNvPr id="178" name="Google Shape;178;p19"/>
          <p:cNvSpPr txBox="1"/>
          <p:nvPr>
            <p:ph idx="1" type="body"/>
          </p:nvPr>
        </p:nvSpPr>
        <p:spPr>
          <a:xfrm>
            <a:off x="457200" y="1417650"/>
            <a:ext cx="8229600" cy="4708500"/>
          </a:xfrm>
          <a:prstGeom prst="rect">
            <a:avLst/>
          </a:prstGeom>
          <a:noFill/>
          <a:ln>
            <a:noFill/>
          </a:ln>
        </p:spPr>
        <p:txBody>
          <a:bodyPr anchorCtr="0" anchor="t" bIns="45700" lIns="91425" spcFirstLastPara="1" rIns="91425" wrap="square" tIns="45700">
            <a:normAutofit/>
          </a:bodyPr>
          <a:lstStyle/>
          <a:p>
            <a:pPr indent="0" lvl="0" marL="0" rtl="0" algn="ctr">
              <a:spcBef>
                <a:spcPts val="1200"/>
              </a:spcBef>
              <a:spcAft>
                <a:spcPts val="0"/>
              </a:spcAft>
              <a:buNone/>
            </a:pPr>
            <a:r>
              <a:rPr b="1" i="1" lang="en-US" sz="2000">
                <a:solidFill>
                  <a:srgbClr val="000000"/>
                </a:solidFill>
                <a:latin typeface="Calibri"/>
                <a:ea typeface="Calibri"/>
                <a:cs typeface="Calibri"/>
                <a:sym typeface="Calibri"/>
              </a:rPr>
              <a:t>One small tool - saves hundreds of hours</a:t>
            </a:r>
            <a:endParaRPr b="1" i="1" sz="2000">
              <a:solidFill>
                <a:srgbClr val="000000"/>
              </a:solidFill>
              <a:latin typeface="Calibri"/>
              <a:ea typeface="Calibri"/>
              <a:cs typeface="Calibri"/>
              <a:sym typeface="Calibri"/>
            </a:endParaRPr>
          </a:p>
          <a:p>
            <a:pPr indent="-355600" lvl="0" marL="457200" rtl="0" algn="l">
              <a:spcBef>
                <a:spcPts val="120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Why it matters:</a:t>
            </a:r>
            <a:r>
              <a:rPr lang="en-US" sz="2000">
                <a:solidFill>
                  <a:srgbClr val="000000"/>
                </a:solidFill>
                <a:latin typeface="Calibri"/>
                <a:ea typeface="Calibri"/>
                <a:cs typeface="Calibri"/>
                <a:sym typeface="Calibri"/>
              </a:rPr>
              <a:t> Repetitive tasks waste time and energy across teams.</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What it looks like:</a:t>
            </a:r>
            <a:r>
              <a:rPr lang="en-US" sz="2000">
                <a:solidFill>
                  <a:srgbClr val="000000"/>
                </a:solidFill>
                <a:latin typeface="Calibri"/>
                <a:ea typeface="Calibri"/>
                <a:cs typeface="Calibri"/>
                <a:sym typeface="Calibri"/>
              </a:rPr>
              <a:t> Building a script, dashboard, or utility that eliminates a recurring bottleneck.</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How to build it:</a:t>
            </a:r>
            <a:r>
              <a:rPr lang="en-US" sz="2000">
                <a:solidFill>
                  <a:srgbClr val="000000"/>
                </a:solidFill>
                <a:latin typeface="Calibri"/>
                <a:ea typeface="Calibri"/>
                <a:cs typeface="Calibri"/>
                <a:sym typeface="Calibri"/>
              </a:rPr>
              <a:t> Identify patterns in daily work - ask “what do I or my team do over and over?”</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Proof of expertise:</a:t>
            </a:r>
            <a:r>
              <a:rPr lang="en-US" sz="2000">
                <a:solidFill>
                  <a:srgbClr val="000000"/>
                </a:solidFill>
                <a:latin typeface="Calibri"/>
                <a:ea typeface="Calibri"/>
                <a:cs typeface="Calibri"/>
                <a:sym typeface="Calibri"/>
              </a:rPr>
              <a:t> Tools that are adopted by teammates and reduce repetitive work.</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Arial"/>
              <a:buChar char="●"/>
            </a:pPr>
            <a:r>
              <a:rPr b="1" lang="en-US" sz="2000">
                <a:solidFill>
                  <a:srgbClr val="000000"/>
                </a:solidFill>
                <a:latin typeface="Calibri"/>
                <a:ea typeface="Calibri"/>
                <a:cs typeface="Calibri"/>
                <a:sym typeface="Calibri"/>
              </a:rPr>
              <a:t>Career impact:</a:t>
            </a:r>
            <a:r>
              <a:rPr lang="en-US" sz="2000">
                <a:solidFill>
                  <a:srgbClr val="000000"/>
                </a:solidFill>
                <a:latin typeface="Calibri"/>
                <a:ea typeface="Calibri"/>
                <a:cs typeface="Calibri"/>
                <a:sym typeface="Calibri"/>
              </a:rPr>
              <a:t> Automation scales your influence - your one solution can save hours for dozens of people.</a:t>
            </a:r>
            <a:endParaRPr sz="2000">
              <a:solidFill>
                <a:srgbClr val="000000"/>
              </a:solidFill>
              <a:latin typeface="Calibri"/>
              <a:ea typeface="Calibri"/>
              <a:cs typeface="Calibri"/>
              <a:sym typeface="Calibri"/>
            </a:endParaRPr>
          </a:p>
        </p:txBody>
      </p:sp>
      <p:sp>
        <p:nvSpPr>
          <p:cNvPr id="179" name="Google Shape;179;p19"/>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83" name="Shape 183"/>
        <p:cNvGrpSpPr/>
        <p:nvPr/>
      </p:nvGrpSpPr>
      <p:grpSpPr>
        <a:xfrm>
          <a:off x="0" y="0"/>
          <a:ext cx="0" cy="0"/>
          <a:chOff x="0" y="0"/>
          <a:chExt cx="0" cy="0"/>
        </a:xfrm>
      </p:grpSpPr>
      <p:sp>
        <p:nvSpPr>
          <p:cNvPr id="184" name="Google Shape;184;g36cdcb6ff9a_0_3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3659">
                <a:solidFill>
                  <a:srgbClr val="000000"/>
                </a:solidFill>
                <a:latin typeface="Calibri"/>
                <a:ea typeface="Calibri"/>
                <a:cs typeface="Calibri"/>
                <a:sym typeface="Calibri"/>
              </a:rPr>
              <a:t>Habit #5: </a:t>
            </a:r>
            <a:r>
              <a:rPr b="1" lang="en-US" sz="3659">
                <a:solidFill>
                  <a:schemeClr val="accent4"/>
                </a:solidFill>
                <a:latin typeface="Calibri"/>
                <a:ea typeface="Calibri"/>
                <a:cs typeface="Calibri"/>
                <a:sym typeface="Calibri"/>
              </a:rPr>
              <a:t>Reflect </a:t>
            </a:r>
            <a:r>
              <a:rPr lang="en-US" sz="3659">
                <a:solidFill>
                  <a:srgbClr val="000000"/>
                </a:solidFill>
                <a:latin typeface="Calibri"/>
                <a:ea typeface="Calibri"/>
                <a:cs typeface="Calibri"/>
                <a:sym typeface="Calibri"/>
              </a:rPr>
              <a:t>and </a:t>
            </a:r>
            <a:r>
              <a:rPr b="1" lang="en-US" sz="3659">
                <a:solidFill>
                  <a:schemeClr val="accent4"/>
                </a:solidFill>
                <a:latin typeface="Calibri"/>
                <a:ea typeface="Calibri"/>
                <a:cs typeface="Calibri"/>
                <a:sym typeface="Calibri"/>
              </a:rPr>
              <a:t>Sharpen</a:t>
            </a:r>
            <a:r>
              <a:rPr b="1" lang="en-US" sz="3659">
                <a:solidFill>
                  <a:schemeClr val="accent4"/>
                </a:solidFill>
                <a:latin typeface="Calibri"/>
                <a:ea typeface="Calibri"/>
                <a:cs typeface="Calibri"/>
                <a:sym typeface="Calibri"/>
              </a:rPr>
              <a:t> </a:t>
            </a:r>
            <a:r>
              <a:rPr lang="en-US" sz="3659">
                <a:solidFill>
                  <a:srgbClr val="000000"/>
                </a:solidFill>
                <a:latin typeface="Calibri"/>
                <a:ea typeface="Calibri"/>
                <a:cs typeface="Calibri"/>
                <a:sym typeface="Calibri"/>
              </a:rPr>
              <a:t>Your Goals</a:t>
            </a:r>
            <a:endParaRPr sz="2400">
              <a:solidFill>
                <a:srgbClr val="000000"/>
              </a:solidFill>
            </a:endParaRPr>
          </a:p>
        </p:txBody>
      </p:sp>
      <p:sp>
        <p:nvSpPr>
          <p:cNvPr id="185" name="Google Shape;185;g36cdcb6ff9a_0_329"/>
          <p:cNvSpPr txBox="1"/>
          <p:nvPr>
            <p:ph idx="1" type="body"/>
          </p:nvPr>
        </p:nvSpPr>
        <p:spPr>
          <a:xfrm>
            <a:off x="457200" y="1417650"/>
            <a:ext cx="8229600" cy="4708500"/>
          </a:xfrm>
          <a:prstGeom prst="rect">
            <a:avLst/>
          </a:prstGeom>
          <a:noFill/>
          <a:ln>
            <a:noFill/>
          </a:ln>
        </p:spPr>
        <p:txBody>
          <a:bodyPr anchorCtr="0" anchor="t" bIns="45700" lIns="91425" spcFirstLastPara="1" rIns="91425" wrap="square" tIns="45700">
            <a:normAutofit/>
          </a:bodyPr>
          <a:lstStyle/>
          <a:p>
            <a:pPr indent="0" lvl="0" marL="0" rtl="0" algn="ctr">
              <a:spcBef>
                <a:spcPts val="1200"/>
              </a:spcBef>
              <a:spcAft>
                <a:spcPts val="0"/>
              </a:spcAft>
              <a:buNone/>
            </a:pPr>
            <a:r>
              <a:rPr b="1" i="1" lang="en-US" sz="2000">
                <a:solidFill>
                  <a:srgbClr val="000000"/>
                </a:solidFill>
                <a:latin typeface="Calibri"/>
                <a:ea typeface="Calibri"/>
                <a:cs typeface="Calibri"/>
                <a:sym typeface="Calibri"/>
              </a:rPr>
              <a:t>Step back - evaluate - realign</a:t>
            </a:r>
            <a:endParaRPr b="1" i="1" sz="2000">
              <a:solidFill>
                <a:srgbClr val="000000"/>
              </a:solidFill>
              <a:latin typeface="Calibri"/>
              <a:ea typeface="Calibri"/>
              <a:cs typeface="Calibri"/>
              <a:sym typeface="Calibri"/>
            </a:endParaRPr>
          </a:p>
          <a:p>
            <a:pPr indent="-336550" lvl="0" marL="457200" rtl="0" algn="l">
              <a:spcBef>
                <a:spcPts val="1200"/>
              </a:spcBef>
              <a:spcAft>
                <a:spcPts val="0"/>
              </a:spcAft>
              <a:buClr>
                <a:srgbClr val="000000"/>
              </a:buClr>
              <a:buSzPts val="1700"/>
              <a:buFont typeface="Calibri"/>
              <a:buChar char="●"/>
            </a:pPr>
            <a:r>
              <a:rPr b="1" lang="en-US" sz="1700">
                <a:solidFill>
                  <a:srgbClr val="000000"/>
                </a:solidFill>
                <a:latin typeface="Calibri"/>
                <a:ea typeface="Calibri"/>
                <a:cs typeface="Calibri"/>
                <a:sym typeface="Calibri"/>
              </a:rPr>
              <a:t>Why it matters:</a:t>
            </a:r>
            <a:r>
              <a:rPr lang="en-US" sz="1700">
                <a:solidFill>
                  <a:srgbClr val="000000"/>
                </a:solidFill>
                <a:latin typeface="Calibri"/>
                <a:ea typeface="Calibri"/>
                <a:cs typeface="Calibri"/>
                <a:sym typeface="Calibri"/>
              </a:rPr>
              <a:t> Effort without direction leads to wasted growth. Reflection ensures your energy compounds in the right direction.</a:t>
            </a:r>
            <a:endParaRPr sz="1700">
              <a:solidFill>
                <a:srgbClr val="000000"/>
              </a:solidFill>
              <a:latin typeface="Calibri"/>
              <a:ea typeface="Calibri"/>
              <a:cs typeface="Calibri"/>
              <a:sym typeface="Calibri"/>
            </a:endParaRPr>
          </a:p>
          <a:p>
            <a:pPr indent="-336550" lvl="0" marL="457200" rtl="0" algn="l">
              <a:spcBef>
                <a:spcPts val="0"/>
              </a:spcBef>
              <a:spcAft>
                <a:spcPts val="0"/>
              </a:spcAft>
              <a:buClr>
                <a:srgbClr val="000000"/>
              </a:buClr>
              <a:buSzPts val="1700"/>
              <a:buFont typeface="Calibri"/>
              <a:buChar char="●"/>
            </a:pPr>
            <a:r>
              <a:rPr b="1" lang="en-US" sz="1700">
                <a:solidFill>
                  <a:srgbClr val="000000"/>
                </a:solidFill>
                <a:latin typeface="Calibri"/>
                <a:ea typeface="Calibri"/>
                <a:cs typeface="Calibri"/>
                <a:sym typeface="Calibri"/>
              </a:rPr>
              <a:t>What it looks like:</a:t>
            </a:r>
            <a:r>
              <a:rPr lang="en-US" sz="1700">
                <a:solidFill>
                  <a:srgbClr val="000000"/>
                </a:solidFill>
                <a:latin typeface="Calibri"/>
                <a:ea typeface="Calibri"/>
                <a:cs typeface="Calibri"/>
                <a:sym typeface="Calibri"/>
              </a:rPr>
              <a:t> Periodically reviewing your progress, adjusting your learning path, and realigning with long-term career goals.</a:t>
            </a:r>
            <a:endParaRPr sz="1700">
              <a:solidFill>
                <a:srgbClr val="000000"/>
              </a:solidFill>
              <a:latin typeface="Calibri"/>
              <a:ea typeface="Calibri"/>
              <a:cs typeface="Calibri"/>
              <a:sym typeface="Calibri"/>
            </a:endParaRPr>
          </a:p>
          <a:p>
            <a:pPr indent="-336550" lvl="0" marL="457200" rtl="0" algn="l">
              <a:spcBef>
                <a:spcPts val="0"/>
              </a:spcBef>
              <a:spcAft>
                <a:spcPts val="0"/>
              </a:spcAft>
              <a:buClr>
                <a:srgbClr val="000000"/>
              </a:buClr>
              <a:buSzPts val="1700"/>
              <a:buFont typeface="Calibri"/>
              <a:buChar char="●"/>
            </a:pPr>
            <a:r>
              <a:rPr b="1" lang="en-US" sz="1700">
                <a:solidFill>
                  <a:srgbClr val="000000"/>
                </a:solidFill>
                <a:latin typeface="Calibri"/>
                <a:ea typeface="Calibri"/>
                <a:cs typeface="Calibri"/>
                <a:sym typeface="Calibri"/>
              </a:rPr>
              <a:t>How to build it:</a:t>
            </a:r>
            <a:r>
              <a:rPr lang="en-US" sz="1700">
                <a:solidFill>
                  <a:srgbClr val="000000"/>
                </a:solidFill>
                <a:latin typeface="Calibri"/>
                <a:ea typeface="Calibri"/>
                <a:cs typeface="Calibri"/>
                <a:sym typeface="Calibri"/>
              </a:rPr>
              <a:t> Set checkpoints - at the end of a semester, project, or year - ask “Am I moving toward the role or impact I want?”</a:t>
            </a:r>
            <a:endParaRPr b="1" sz="1700">
              <a:solidFill>
                <a:srgbClr val="000000"/>
              </a:solidFill>
              <a:latin typeface="Calibri"/>
              <a:ea typeface="Calibri"/>
              <a:cs typeface="Calibri"/>
              <a:sym typeface="Calibri"/>
            </a:endParaRPr>
          </a:p>
          <a:p>
            <a:pPr indent="-336550" lvl="1" marL="914400" rtl="0" algn="l">
              <a:spcBef>
                <a:spcPts val="0"/>
              </a:spcBef>
              <a:spcAft>
                <a:spcPts val="0"/>
              </a:spcAft>
              <a:buClr>
                <a:srgbClr val="000000"/>
              </a:buClr>
              <a:buSzPts val="1700"/>
              <a:buFont typeface="Calibri"/>
              <a:buChar char="○"/>
            </a:pPr>
            <a:r>
              <a:rPr lang="en-US" sz="1700">
                <a:solidFill>
                  <a:srgbClr val="000000"/>
                </a:solidFill>
                <a:latin typeface="Calibri"/>
                <a:ea typeface="Calibri"/>
                <a:cs typeface="Calibri"/>
                <a:sym typeface="Calibri"/>
              </a:rPr>
              <a:t>After an internship, identify which skills gave you the most energy and growth.</a:t>
            </a:r>
            <a:endParaRPr sz="1700">
              <a:solidFill>
                <a:srgbClr val="000000"/>
              </a:solidFill>
              <a:latin typeface="Calibri"/>
              <a:ea typeface="Calibri"/>
              <a:cs typeface="Calibri"/>
              <a:sym typeface="Calibri"/>
            </a:endParaRPr>
          </a:p>
          <a:p>
            <a:pPr indent="-336550" lvl="1" marL="914400" rtl="0" algn="l">
              <a:spcBef>
                <a:spcPts val="0"/>
              </a:spcBef>
              <a:spcAft>
                <a:spcPts val="0"/>
              </a:spcAft>
              <a:buClr>
                <a:srgbClr val="000000"/>
              </a:buClr>
              <a:buSzPts val="1700"/>
              <a:buFont typeface="Calibri"/>
              <a:buChar char="○"/>
            </a:pPr>
            <a:r>
              <a:rPr lang="en-US" sz="1700">
                <a:solidFill>
                  <a:srgbClr val="000000"/>
                </a:solidFill>
                <a:latin typeface="Calibri"/>
                <a:ea typeface="Calibri"/>
                <a:cs typeface="Calibri"/>
                <a:sym typeface="Calibri"/>
              </a:rPr>
              <a:t>At the end of a project, write down lessons learned and gaps to improve.</a:t>
            </a:r>
            <a:endParaRPr sz="1700">
              <a:solidFill>
                <a:srgbClr val="000000"/>
              </a:solidFill>
              <a:latin typeface="Calibri"/>
              <a:ea typeface="Calibri"/>
              <a:cs typeface="Calibri"/>
              <a:sym typeface="Calibri"/>
            </a:endParaRPr>
          </a:p>
          <a:p>
            <a:pPr indent="-336550" lvl="1" marL="914400" rtl="0" algn="l">
              <a:spcBef>
                <a:spcPts val="0"/>
              </a:spcBef>
              <a:spcAft>
                <a:spcPts val="0"/>
              </a:spcAft>
              <a:buClr>
                <a:srgbClr val="000000"/>
              </a:buClr>
              <a:buSzPts val="1700"/>
              <a:buFont typeface="Calibri"/>
              <a:buChar char="○"/>
            </a:pPr>
            <a:r>
              <a:rPr lang="en-US" sz="1700">
                <a:solidFill>
                  <a:srgbClr val="000000"/>
                </a:solidFill>
                <a:latin typeface="Calibri"/>
                <a:ea typeface="Calibri"/>
                <a:cs typeface="Calibri"/>
                <a:sym typeface="Calibri"/>
              </a:rPr>
              <a:t>Every 6 - 12 months, update your resume/portfolio to reflect what you’ve built.</a:t>
            </a:r>
            <a:endParaRPr sz="1700">
              <a:solidFill>
                <a:srgbClr val="000000"/>
              </a:solidFill>
              <a:latin typeface="Calibri"/>
              <a:ea typeface="Calibri"/>
              <a:cs typeface="Calibri"/>
              <a:sym typeface="Calibri"/>
            </a:endParaRPr>
          </a:p>
          <a:p>
            <a:pPr indent="-336550" lvl="0" marL="457200" rtl="0" algn="l">
              <a:spcBef>
                <a:spcPts val="0"/>
              </a:spcBef>
              <a:spcAft>
                <a:spcPts val="0"/>
              </a:spcAft>
              <a:buClr>
                <a:srgbClr val="000000"/>
              </a:buClr>
              <a:buSzPts val="1700"/>
              <a:buFont typeface="Calibri"/>
              <a:buChar char="●"/>
            </a:pPr>
            <a:r>
              <a:rPr b="1" lang="en-US" sz="1700">
                <a:solidFill>
                  <a:srgbClr val="000000"/>
                </a:solidFill>
                <a:latin typeface="Calibri"/>
                <a:ea typeface="Calibri"/>
                <a:cs typeface="Calibri"/>
                <a:sym typeface="Calibri"/>
              </a:rPr>
              <a:t>Proof of expertise:</a:t>
            </a:r>
            <a:r>
              <a:rPr lang="en-US" sz="1700">
                <a:solidFill>
                  <a:srgbClr val="000000"/>
                </a:solidFill>
                <a:latin typeface="Calibri"/>
                <a:ea typeface="Calibri"/>
                <a:cs typeface="Calibri"/>
                <a:sym typeface="Calibri"/>
              </a:rPr>
              <a:t> Clear progression in skills, projects, and career direction over time.</a:t>
            </a:r>
            <a:endParaRPr sz="1700">
              <a:solidFill>
                <a:srgbClr val="000000"/>
              </a:solidFill>
              <a:latin typeface="Calibri"/>
              <a:ea typeface="Calibri"/>
              <a:cs typeface="Calibri"/>
              <a:sym typeface="Calibri"/>
            </a:endParaRPr>
          </a:p>
          <a:p>
            <a:pPr indent="-336550" lvl="0" marL="457200" rtl="0" algn="l">
              <a:spcBef>
                <a:spcPts val="0"/>
              </a:spcBef>
              <a:spcAft>
                <a:spcPts val="0"/>
              </a:spcAft>
              <a:buClr>
                <a:srgbClr val="000000"/>
              </a:buClr>
              <a:buSzPts val="1700"/>
              <a:buFont typeface="Calibri"/>
              <a:buChar char="●"/>
            </a:pPr>
            <a:r>
              <a:rPr b="1" lang="en-US" sz="1700">
                <a:solidFill>
                  <a:srgbClr val="000000"/>
                </a:solidFill>
                <a:latin typeface="Calibri"/>
                <a:ea typeface="Calibri"/>
                <a:cs typeface="Calibri"/>
                <a:sym typeface="Calibri"/>
              </a:rPr>
              <a:t>Career impact:</a:t>
            </a:r>
            <a:r>
              <a:rPr lang="en-US" sz="1700">
                <a:solidFill>
                  <a:srgbClr val="000000"/>
                </a:solidFill>
                <a:latin typeface="Calibri"/>
                <a:ea typeface="Calibri"/>
                <a:cs typeface="Calibri"/>
                <a:sym typeface="Calibri"/>
              </a:rPr>
              <a:t> Reflection + adjustment prevent stagnation, ensuring long-term growth and alignment.</a:t>
            </a:r>
            <a:endParaRPr b="1" sz="2600">
              <a:solidFill>
                <a:srgbClr val="000000"/>
              </a:solidFill>
              <a:latin typeface="Calibri"/>
              <a:ea typeface="Calibri"/>
              <a:cs typeface="Calibri"/>
              <a:sym typeface="Calibri"/>
            </a:endParaRPr>
          </a:p>
        </p:txBody>
      </p:sp>
      <p:sp>
        <p:nvSpPr>
          <p:cNvPr id="186" name="Google Shape;186;g36cdcb6ff9a_0_329"/>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90" name="Shape 190"/>
        <p:cNvGrpSpPr/>
        <p:nvPr/>
      </p:nvGrpSpPr>
      <p:grpSpPr>
        <a:xfrm>
          <a:off x="0" y="0"/>
          <a:ext cx="0" cy="0"/>
          <a:chOff x="0" y="0"/>
          <a:chExt cx="0" cy="0"/>
        </a:xfrm>
      </p:grpSpPr>
      <p:sp>
        <p:nvSpPr>
          <p:cNvPr id="191" name="Google Shape;191;g36cdcb6ff9a_0_347"/>
          <p:cNvSpPr txBox="1"/>
          <p:nvPr>
            <p:ph type="title"/>
          </p:nvPr>
        </p:nvSpPr>
        <p:spPr>
          <a:xfrm>
            <a:off x="3541775" y="1067350"/>
            <a:ext cx="5352300" cy="4060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sz="2500">
                <a:solidFill>
                  <a:schemeClr val="dk1"/>
                </a:solidFill>
                <a:latin typeface="Calibri"/>
                <a:ea typeface="Calibri"/>
                <a:cs typeface="Calibri"/>
                <a:sym typeface="Calibri"/>
              </a:rPr>
              <a:t>“</a:t>
            </a:r>
            <a:r>
              <a:rPr lang="en-US" sz="2500">
                <a:solidFill>
                  <a:schemeClr val="dk1"/>
                </a:solidFill>
                <a:latin typeface="Calibri"/>
                <a:ea typeface="Calibri"/>
                <a:cs typeface="Calibri"/>
                <a:sym typeface="Calibri"/>
              </a:rPr>
              <a:t>I’m not a great programmer; I’m just a good programmer with great habits.</a:t>
            </a:r>
            <a:r>
              <a:rPr lang="en-US" sz="2500">
                <a:solidFill>
                  <a:schemeClr val="dk1"/>
                </a:solidFill>
                <a:latin typeface="Calibri"/>
                <a:ea typeface="Calibri"/>
                <a:cs typeface="Calibri"/>
                <a:sym typeface="Calibri"/>
              </a:rPr>
              <a:t>”</a:t>
            </a:r>
            <a:endParaRPr sz="2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4400"/>
              <a:buFont typeface="Calibri"/>
              <a:buNone/>
            </a:pPr>
            <a:r>
              <a:t/>
            </a:r>
            <a:endParaRPr sz="2500">
              <a:solidFill>
                <a:schemeClr val="dk1"/>
              </a:solidFill>
              <a:latin typeface="Calibri"/>
              <a:ea typeface="Calibri"/>
              <a:cs typeface="Calibri"/>
              <a:sym typeface="Calibri"/>
            </a:endParaRPr>
          </a:p>
          <a:p>
            <a:pPr indent="457200" lvl="0" marL="457200" rtl="0" algn="l">
              <a:spcBef>
                <a:spcPts val="0"/>
              </a:spcBef>
              <a:spcAft>
                <a:spcPts val="0"/>
              </a:spcAft>
              <a:buClr>
                <a:schemeClr val="dk1"/>
              </a:buClr>
              <a:buSzPts val="4400"/>
              <a:buFont typeface="Calibri"/>
              <a:buNone/>
            </a:pPr>
            <a:r>
              <a:rPr lang="en-US" sz="2500">
                <a:solidFill>
                  <a:schemeClr val="dk1"/>
                </a:solidFill>
                <a:latin typeface="Calibri"/>
                <a:ea typeface="Calibri"/>
                <a:cs typeface="Calibri"/>
                <a:sym typeface="Calibri"/>
              </a:rPr>
              <a:t>  </a:t>
            </a:r>
            <a:r>
              <a:rPr lang="en-US" sz="2200">
                <a:solidFill>
                  <a:schemeClr val="dk1"/>
                </a:solidFill>
                <a:latin typeface="Calibri"/>
                <a:ea typeface="Calibri"/>
                <a:cs typeface="Calibri"/>
                <a:sym typeface="Calibri"/>
              </a:rPr>
              <a:t>Kent Beck</a:t>
            </a:r>
            <a:endParaRPr sz="2200">
              <a:solidFill>
                <a:schemeClr val="dk1"/>
              </a:solidFill>
              <a:latin typeface="Calibri"/>
              <a:ea typeface="Calibri"/>
              <a:cs typeface="Calibri"/>
              <a:sym typeface="Calibri"/>
            </a:endParaRPr>
          </a:p>
          <a:p>
            <a:pPr indent="457200" lvl="0" marL="457200" rtl="0" algn="l">
              <a:spcBef>
                <a:spcPts val="0"/>
              </a:spcBef>
              <a:spcAft>
                <a:spcPts val="0"/>
              </a:spcAft>
              <a:buClr>
                <a:schemeClr val="dk1"/>
              </a:buClr>
              <a:buSzPts val="4400"/>
              <a:buFont typeface="Calibri"/>
              <a:buNone/>
            </a:pPr>
            <a:r>
              <a:rPr lang="en-US" sz="2200">
                <a:solidFill>
                  <a:schemeClr val="dk1"/>
                </a:solidFill>
                <a:latin typeface="Calibri"/>
                <a:ea typeface="Calibri"/>
                <a:cs typeface="Calibri"/>
                <a:sym typeface="Calibri"/>
              </a:rPr>
              <a:t>  Creator of Extreme Programming</a:t>
            </a:r>
            <a:endParaRPr sz="800"/>
          </a:p>
        </p:txBody>
      </p:sp>
      <p:sp>
        <p:nvSpPr>
          <p:cNvPr id="192" name="Google Shape;192;g36cdcb6ff9a_0_347"/>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93" name="Google Shape;193;g36cdcb6ff9a_0_347"/>
          <p:cNvPicPr preferRelativeResize="0"/>
          <p:nvPr/>
        </p:nvPicPr>
        <p:blipFill>
          <a:blip r:embed="rId3">
            <a:alphaModFix/>
          </a:blip>
          <a:stretch>
            <a:fillRect/>
          </a:stretch>
        </p:blipFill>
        <p:spPr>
          <a:xfrm>
            <a:off x="944650" y="2202100"/>
            <a:ext cx="1800225" cy="1790700"/>
          </a:xfrm>
          <a:prstGeom prst="rect">
            <a:avLst/>
          </a:prstGeom>
          <a:noFill/>
          <a:ln>
            <a:noFill/>
          </a:ln>
        </p:spPr>
      </p:pic>
      <p:pic>
        <p:nvPicPr>
          <p:cNvPr id="194" name="Google Shape;194;g36cdcb6ff9a_0_347"/>
          <p:cNvPicPr preferRelativeResize="0"/>
          <p:nvPr/>
        </p:nvPicPr>
        <p:blipFill>
          <a:blip r:embed="rId4">
            <a:alphaModFix/>
          </a:blip>
          <a:stretch>
            <a:fillRect/>
          </a:stretch>
        </p:blipFill>
        <p:spPr>
          <a:xfrm>
            <a:off x="900100" y="2154025"/>
            <a:ext cx="1889324" cy="1886851"/>
          </a:xfrm>
          <a:prstGeom prst="rect">
            <a:avLst/>
          </a:prstGeom>
          <a:noFill/>
          <a:ln>
            <a:noFill/>
          </a:ln>
        </p:spPr>
      </p:pic>
      <p:pic>
        <p:nvPicPr>
          <p:cNvPr id="195" name="Google Shape;195;g36cdcb6ff9a_0_347"/>
          <p:cNvPicPr preferRelativeResize="0"/>
          <p:nvPr/>
        </p:nvPicPr>
        <p:blipFill>
          <a:blip r:embed="rId5">
            <a:alphaModFix/>
          </a:blip>
          <a:stretch>
            <a:fillRect/>
          </a:stretch>
        </p:blipFill>
        <p:spPr>
          <a:xfrm>
            <a:off x="767588" y="2021698"/>
            <a:ext cx="2154347" cy="2151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199" name="Shape 199"/>
        <p:cNvGrpSpPr/>
        <p:nvPr/>
      </p:nvGrpSpPr>
      <p:grpSpPr>
        <a:xfrm>
          <a:off x="0" y="0"/>
          <a:ext cx="0" cy="0"/>
          <a:chOff x="0" y="0"/>
          <a:chExt cx="0" cy="0"/>
        </a:xfrm>
      </p:grpSpPr>
      <p:sp>
        <p:nvSpPr>
          <p:cNvPr id="200" name="Google Shape;200;g36cdcb6ff9a_0_251"/>
          <p:cNvSpPr txBox="1"/>
          <p:nvPr>
            <p:ph type="title"/>
          </p:nvPr>
        </p:nvSpPr>
        <p:spPr>
          <a:xfrm>
            <a:off x="265500" y="1834132"/>
            <a:ext cx="4045200" cy="2069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Tools</a:t>
            </a:r>
            <a:endParaRPr/>
          </a:p>
        </p:txBody>
      </p:sp>
      <p:sp>
        <p:nvSpPr>
          <p:cNvPr id="201" name="Google Shape;201;g36cdcb6ff9a_0_251"/>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02" name="Google Shape;202;g36cdcb6ff9a_0_251"/>
          <p:cNvSpPr txBox="1"/>
          <p:nvPr>
            <p:ph idx="2" type="body"/>
          </p:nvPr>
        </p:nvSpPr>
        <p:spPr>
          <a:xfrm>
            <a:off x="4939500" y="965600"/>
            <a:ext cx="3837000" cy="4002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US" sz="2500"/>
              <a:t>5 Tools to Scale Your Career Brand</a:t>
            </a:r>
            <a:endParaRPr sz="2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206" name="Shape 206"/>
        <p:cNvGrpSpPr/>
        <p:nvPr/>
      </p:nvGrpSpPr>
      <p:grpSpPr>
        <a:xfrm>
          <a:off x="0" y="0"/>
          <a:ext cx="0" cy="0"/>
          <a:chOff x="0" y="0"/>
          <a:chExt cx="0" cy="0"/>
        </a:xfrm>
      </p:grpSpPr>
      <p:sp>
        <p:nvSpPr>
          <p:cNvPr id="207" name="Google Shape;207;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Poll #3</a:t>
            </a:r>
            <a:endParaRPr>
              <a:solidFill>
                <a:srgbClr val="000000"/>
              </a:solidFill>
            </a:endParaRPr>
          </a:p>
        </p:txBody>
      </p:sp>
      <p:sp>
        <p:nvSpPr>
          <p:cNvPr id="208" name="Google Shape;208;p24"/>
          <p:cNvSpPr txBox="1"/>
          <p:nvPr>
            <p:ph idx="1" type="body"/>
          </p:nvPr>
        </p:nvSpPr>
        <p:spPr>
          <a:xfrm>
            <a:off x="457200" y="1600200"/>
            <a:ext cx="8229600" cy="3094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1200"/>
              </a:spcAft>
              <a:buNone/>
            </a:pPr>
            <a:r>
              <a:rPr lang="en-US" sz="3200">
                <a:solidFill>
                  <a:srgbClr val="000000"/>
                </a:solidFill>
                <a:latin typeface="Calibri"/>
                <a:ea typeface="Calibri"/>
                <a:cs typeface="Calibri"/>
                <a:sym typeface="Calibri"/>
              </a:rPr>
              <a:t>Do you </a:t>
            </a:r>
            <a:r>
              <a:rPr lang="en-US" sz="3200">
                <a:solidFill>
                  <a:srgbClr val="000000"/>
                </a:solidFill>
                <a:latin typeface="Calibri"/>
                <a:ea typeface="Calibri"/>
                <a:cs typeface="Calibri"/>
                <a:sym typeface="Calibri"/>
              </a:rPr>
              <a:t>have a personal website?</a:t>
            </a:r>
            <a:endParaRPr>
              <a:solidFill>
                <a:srgbClr val="000000"/>
              </a:solidFill>
            </a:endParaRPr>
          </a:p>
        </p:txBody>
      </p:sp>
      <p:sp>
        <p:nvSpPr>
          <p:cNvPr id="209" name="Google Shape;209;p24"/>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213" name="Shape 213"/>
        <p:cNvGrpSpPr/>
        <p:nvPr/>
      </p:nvGrpSpPr>
      <p:grpSpPr>
        <a:xfrm>
          <a:off x="0" y="0"/>
          <a:ext cx="0" cy="0"/>
          <a:chOff x="0" y="0"/>
          <a:chExt cx="0" cy="0"/>
        </a:xfrm>
      </p:grpSpPr>
      <p:sp>
        <p:nvSpPr>
          <p:cNvPr id="214" name="Google Shape;21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Your Career Tool Ecosystem</a:t>
            </a:r>
            <a:endParaRPr>
              <a:solidFill>
                <a:srgbClr val="000000"/>
              </a:solidFill>
            </a:endParaRPr>
          </a:p>
        </p:txBody>
      </p:sp>
      <p:sp>
        <p:nvSpPr>
          <p:cNvPr id="215" name="Google Shape;215;p21"/>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216" name="Google Shape;216;p21"/>
          <p:cNvSpPr/>
          <p:nvPr/>
        </p:nvSpPr>
        <p:spPr>
          <a:xfrm>
            <a:off x="3223250" y="1960819"/>
            <a:ext cx="2540100" cy="2540100"/>
          </a:xfrm>
          <a:prstGeom prst="donut">
            <a:avLst>
              <a:gd fmla="val 16067" name="adj"/>
            </a:avLst>
          </a:prstGeom>
          <a:solidFill>
            <a:srgbClr val="000000">
              <a:alpha val="107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7" name="Google Shape;217;p21"/>
          <p:cNvGrpSpPr/>
          <p:nvPr/>
        </p:nvGrpSpPr>
        <p:grpSpPr>
          <a:xfrm>
            <a:off x="5139800" y="1646775"/>
            <a:ext cx="3106004" cy="680373"/>
            <a:chOff x="5214050" y="851698"/>
            <a:chExt cx="3106004" cy="680373"/>
          </a:xfrm>
        </p:grpSpPr>
        <p:cxnSp>
          <p:nvCxnSpPr>
            <p:cNvPr id="218" name="Google Shape;218;p21"/>
            <p:cNvCxnSpPr/>
            <p:nvPr/>
          </p:nvCxnSpPr>
          <p:spPr>
            <a:xfrm flipH="1">
              <a:off x="5214050" y="1153772"/>
              <a:ext cx="273000" cy="378300"/>
            </a:xfrm>
            <a:prstGeom prst="straightConnector1">
              <a:avLst/>
            </a:prstGeom>
            <a:noFill/>
            <a:ln cap="flat" cmpd="sng" w="19050">
              <a:solidFill>
                <a:srgbClr val="085630"/>
              </a:solidFill>
              <a:prstDash val="solid"/>
              <a:round/>
              <a:headEnd len="med" w="med" type="oval"/>
              <a:tailEnd len="sm" w="sm" type="none"/>
            </a:ln>
          </p:spPr>
        </p:cxnSp>
        <p:sp>
          <p:nvSpPr>
            <p:cNvPr id="219" name="Google Shape;219;p21"/>
            <p:cNvSpPr txBox="1"/>
            <p:nvPr/>
          </p:nvSpPr>
          <p:spPr>
            <a:xfrm>
              <a:off x="5514154" y="851698"/>
              <a:ext cx="2805900" cy="66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latin typeface="Roboto"/>
                  <a:ea typeface="Roboto"/>
                  <a:cs typeface="Roboto"/>
                  <a:sym typeface="Roboto"/>
                </a:rPr>
                <a:t>Knowledge Repository</a:t>
              </a:r>
              <a:endParaRPr b="1" sz="1800">
                <a:latin typeface="Roboto"/>
                <a:ea typeface="Roboto"/>
                <a:cs typeface="Roboto"/>
                <a:sym typeface="Roboto"/>
              </a:endParaRPr>
            </a:p>
          </p:txBody>
        </p:sp>
      </p:grpSp>
      <p:grpSp>
        <p:nvGrpSpPr>
          <p:cNvPr id="220" name="Google Shape;220;p21"/>
          <p:cNvGrpSpPr/>
          <p:nvPr/>
        </p:nvGrpSpPr>
        <p:grpSpPr>
          <a:xfrm>
            <a:off x="1480249" y="1646775"/>
            <a:ext cx="2353462" cy="680373"/>
            <a:chOff x="1554499" y="851698"/>
            <a:chExt cx="2353462" cy="680373"/>
          </a:xfrm>
        </p:grpSpPr>
        <p:cxnSp>
          <p:nvCxnSpPr>
            <p:cNvPr id="221" name="Google Shape;221;p21"/>
            <p:cNvCxnSpPr/>
            <p:nvPr/>
          </p:nvCxnSpPr>
          <p:spPr>
            <a:xfrm>
              <a:off x="3634961" y="1153772"/>
              <a:ext cx="273000" cy="378300"/>
            </a:xfrm>
            <a:prstGeom prst="straightConnector1">
              <a:avLst/>
            </a:prstGeom>
            <a:noFill/>
            <a:ln cap="flat" cmpd="sng" w="19050">
              <a:solidFill>
                <a:srgbClr val="65F0AC"/>
              </a:solidFill>
              <a:prstDash val="solid"/>
              <a:round/>
              <a:headEnd len="med" w="med" type="oval"/>
              <a:tailEnd len="sm" w="sm" type="none"/>
            </a:ln>
          </p:spPr>
        </p:cxnSp>
        <p:sp>
          <p:nvSpPr>
            <p:cNvPr id="222" name="Google Shape;222;p21"/>
            <p:cNvSpPr txBox="1"/>
            <p:nvPr/>
          </p:nvSpPr>
          <p:spPr>
            <a:xfrm>
              <a:off x="1554499" y="851698"/>
              <a:ext cx="2043000" cy="669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US" sz="1800">
                  <a:latin typeface="Roboto"/>
                  <a:ea typeface="Roboto"/>
                  <a:cs typeface="Roboto"/>
                  <a:sym typeface="Roboto"/>
                </a:rPr>
                <a:t>Portfolio Website</a:t>
              </a:r>
              <a:endParaRPr b="1" sz="1800">
                <a:latin typeface="Roboto"/>
                <a:ea typeface="Roboto"/>
                <a:cs typeface="Roboto"/>
                <a:sym typeface="Roboto"/>
              </a:endParaRPr>
            </a:p>
          </p:txBody>
        </p:sp>
      </p:grpSp>
      <p:grpSp>
        <p:nvGrpSpPr>
          <p:cNvPr id="223" name="Google Shape;223;p21"/>
          <p:cNvGrpSpPr/>
          <p:nvPr/>
        </p:nvGrpSpPr>
        <p:grpSpPr>
          <a:xfrm>
            <a:off x="5551225" y="3480275"/>
            <a:ext cx="2982297" cy="669600"/>
            <a:chOff x="5625475" y="2685198"/>
            <a:chExt cx="2982297" cy="669600"/>
          </a:xfrm>
        </p:grpSpPr>
        <p:cxnSp>
          <p:nvCxnSpPr>
            <p:cNvPr id="224" name="Google Shape;224;p21"/>
            <p:cNvCxnSpPr/>
            <p:nvPr/>
          </p:nvCxnSpPr>
          <p:spPr>
            <a:xfrm rot="10800000">
              <a:off x="5625475" y="2771675"/>
              <a:ext cx="442200" cy="153300"/>
            </a:xfrm>
            <a:prstGeom prst="straightConnector1">
              <a:avLst/>
            </a:prstGeom>
            <a:noFill/>
            <a:ln cap="flat" cmpd="sng" w="19050">
              <a:solidFill>
                <a:srgbClr val="0E9453"/>
              </a:solidFill>
              <a:prstDash val="solid"/>
              <a:round/>
              <a:headEnd len="med" w="med" type="oval"/>
              <a:tailEnd len="sm" w="sm" type="none"/>
            </a:ln>
          </p:spPr>
        </p:cxnSp>
        <p:sp>
          <p:nvSpPr>
            <p:cNvPr id="225" name="Google Shape;225;p21"/>
            <p:cNvSpPr txBox="1"/>
            <p:nvPr/>
          </p:nvSpPr>
          <p:spPr>
            <a:xfrm>
              <a:off x="6067672" y="2685198"/>
              <a:ext cx="2540100" cy="66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latin typeface="Roboto"/>
                  <a:ea typeface="Roboto"/>
                  <a:cs typeface="Roboto"/>
                  <a:sym typeface="Roboto"/>
                </a:rPr>
                <a:t>Side Projects</a:t>
              </a:r>
              <a:endParaRPr b="1" sz="1800">
                <a:latin typeface="Roboto"/>
                <a:ea typeface="Roboto"/>
                <a:cs typeface="Roboto"/>
                <a:sym typeface="Roboto"/>
              </a:endParaRPr>
            </a:p>
          </p:txBody>
        </p:sp>
      </p:grpSp>
      <p:grpSp>
        <p:nvGrpSpPr>
          <p:cNvPr id="226" name="Google Shape;226;p21"/>
          <p:cNvGrpSpPr/>
          <p:nvPr/>
        </p:nvGrpSpPr>
        <p:grpSpPr>
          <a:xfrm>
            <a:off x="469875" y="3533500"/>
            <a:ext cx="2965550" cy="365100"/>
            <a:chOff x="544125" y="2738423"/>
            <a:chExt cx="2965550" cy="365100"/>
          </a:xfrm>
        </p:grpSpPr>
        <p:cxnSp>
          <p:nvCxnSpPr>
            <p:cNvPr id="227" name="Google Shape;227;p21"/>
            <p:cNvCxnSpPr/>
            <p:nvPr/>
          </p:nvCxnSpPr>
          <p:spPr>
            <a:xfrm flipH="1" rot="10800000">
              <a:off x="3059375" y="2771675"/>
              <a:ext cx="450300" cy="145200"/>
            </a:xfrm>
            <a:prstGeom prst="straightConnector1">
              <a:avLst/>
            </a:prstGeom>
            <a:noFill/>
            <a:ln cap="flat" cmpd="sng" w="19050">
              <a:solidFill>
                <a:srgbClr val="0E9453"/>
              </a:solidFill>
              <a:prstDash val="solid"/>
              <a:round/>
              <a:headEnd len="med" w="med" type="oval"/>
              <a:tailEnd len="sm" w="sm" type="none"/>
            </a:ln>
          </p:spPr>
        </p:cxnSp>
        <p:sp>
          <p:nvSpPr>
            <p:cNvPr id="228" name="Google Shape;228;p21"/>
            <p:cNvSpPr txBox="1"/>
            <p:nvPr/>
          </p:nvSpPr>
          <p:spPr>
            <a:xfrm>
              <a:off x="544125" y="2738423"/>
              <a:ext cx="2505600" cy="3651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US" sz="1800">
                  <a:latin typeface="Roboto"/>
                  <a:ea typeface="Roboto"/>
                  <a:cs typeface="Roboto"/>
                  <a:sym typeface="Roboto"/>
                </a:rPr>
                <a:t>Feedback / Analytics</a:t>
              </a:r>
              <a:endParaRPr b="1" sz="1800">
                <a:latin typeface="Roboto"/>
                <a:ea typeface="Roboto"/>
                <a:cs typeface="Roboto"/>
                <a:sym typeface="Roboto"/>
              </a:endParaRPr>
            </a:p>
          </p:txBody>
        </p:sp>
      </p:grpSp>
      <p:grpSp>
        <p:nvGrpSpPr>
          <p:cNvPr id="229" name="Google Shape;229;p21"/>
          <p:cNvGrpSpPr/>
          <p:nvPr/>
        </p:nvGrpSpPr>
        <p:grpSpPr>
          <a:xfrm>
            <a:off x="3237599" y="4336077"/>
            <a:ext cx="2481600" cy="1159198"/>
            <a:chOff x="3311849" y="3541000"/>
            <a:chExt cx="2481600" cy="1159198"/>
          </a:xfrm>
        </p:grpSpPr>
        <p:cxnSp>
          <p:nvCxnSpPr>
            <p:cNvPr id="230" name="Google Shape;230;p21"/>
            <p:cNvCxnSpPr/>
            <p:nvPr/>
          </p:nvCxnSpPr>
          <p:spPr>
            <a:xfrm rot="10800000">
              <a:off x="4563402" y="3541000"/>
              <a:ext cx="0" cy="489600"/>
            </a:xfrm>
            <a:prstGeom prst="straightConnector1">
              <a:avLst/>
            </a:prstGeom>
            <a:noFill/>
            <a:ln cap="flat" cmpd="sng" w="19050">
              <a:solidFill>
                <a:srgbClr val="085630"/>
              </a:solidFill>
              <a:prstDash val="solid"/>
              <a:round/>
              <a:headEnd len="med" w="med" type="oval"/>
              <a:tailEnd len="sm" w="sm" type="none"/>
            </a:ln>
          </p:spPr>
        </p:cxnSp>
        <p:sp>
          <p:nvSpPr>
            <p:cNvPr id="231" name="Google Shape;231;p21"/>
            <p:cNvSpPr txBox="1"/>
            <p:nvPr/>
          </p:nvSpPr>
          <p:spPr>
            <a:xfrm>
              <a:off x="3311849" y="4030598"/>
              <a:ext cx="2481600" cy="66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US" sz="1800">
                  <a:latin typeface="Roboto"/>
                  <a:ea typeface="Roboto"/>
                  <a:cs typeface="Roboto"/>
                  <a:sym typeface="Roboto"/>
                </a:rPr>
                <a:t>Content Platforms</a:t>
              </a:r>
              <a:endParaRPr b="1" sz="1800">
                <a:latin typeface="Roboto"/>
                <a:ea typeface="Roboto"/>
                <a:cs typeface="Roboto"/>
                <a:sym typeface="Roboto"/>
              </a:endParaRPr>
            </a:p>
          </p:txBody>
        </p:sp>
      </p:grpSp>
      <p:sp>
        <p:nvSpPr>
          <p:cNvPr id="232" name="Google Shape;232;p21"/>
          <p:cNvSpPr/>
          <p:nvPr/>
        </p:nvSpPr>
        <p:spPr>
          <a:xfrm rot="1800047">
            <a:off x="3145593" y="1881511"/>
            <a:ext cx="2690936" cy="2690936"/>
          </a:xfrm>
          <a:prstGeom prst="blockArc">
            <a:avLst>
              <a:gd fmla="val 14414370" name="adj1"/>
              <a:gd fmla="val 18998613" name="adj2"/>
              <a:gd fmla="val 8907" name="adj3"/>
            </a:avLst>
          </a:prstGeom>
          <a:solidFill>
            <a:srgbClr val="085630"/>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1"/>
          <p:cNvSpPr/>
          <p:nvPr/>
        </p:nvSpPr>
        <p:spPr>
          <a:xfrm flipH="1" rot="-9000757">
            <a:off x="3151466" y="1879885"/>
            <a:ext cx="2690226" cy="2690226"/>
          </a:xfrm>
          <a:prstGeom prst="blockArc">
            <a:avLst>
              <a:gd fmla="val 20178804" name="adj1"/>
              <a:gd fmla="val 2623923" name="adj2"/>
              <a:gd fmla="val 8858" name="adj3"/>
            </a:avLst>
          </a:prstGeom>
          <a:solidFill>
            <a:srgbClr val="0E9453"/>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1"/>
          <p:cNvSpPr txBox="1"/>
          <p:nvPr/>
        </p:nvSpPr>
        <p:spPr>
          <a:xfrm>
            <a:off x="3771525" y="2512826"/>
            <a:ext cx="1443600" cy="1495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US" sz="2000">
                <a:solidFill>
                  <a:srgbClr val="020202"/>
                </a:solidFill>
                <a:latin typeface="Roboto"/>
                <a:ea typeface="Roboto"/>
                <a:cs typeface="Roboto"/>
                <a:sym typeface="Roboto"/>
              </a:rPr>
              <a:t>Career Tool Ecosystem</a:t>
            </a:r>
            <a:endParaRPr sz="2000">
              <a:solidFill>
                <a:srgbClr val="020202"/>
              </a:solidFill>
            </a:endParaRPr>
          </a:p>
        </p:txBody>
      </p:sp>
      <p:sp>
        <p:nvSpPr>
          <p:cNvPr id="235" name="Google Shape;235;p21"/>
          <p:cNvSpPr/>
          <p:nvPr/>
        </p:nvSpPr>
        <p:spPr>
          <a:xfrm rot="-3781968">
            <a:off x="5482515" y="2653061"/>
            <a:ext cx="363191" cy="363191"/>
          </a:xfrm>
          <a:prstGeom prst="rtTriangle">
            <a:avLst/>
          </a:prstGeom>
          <a:solidFill>
            <a:srgbClr val="085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1"/>
          <p:cNvSpPr/>
          <p:nvPr/>
        </p:nvSpPr>
        <p:spPr>
          <a:xfrm flipH="1" rot="-1800109">
            <a:off x="3140780" y="1877551"/>
            <a:ext cx="2696852" cy="2696852"/>
          </a:xfrm>
          <a:prstGeom prst="blockArc">
            <a:avLst>
              <a:gd fmla="val 14334136" name="adj1"/>
              <a:gd fmla="val 18854681" name="adj2"/>
              <a:gd fmla="val 8846" name="adj3"/>
            </a:avLst>
          </a:prstGeom>
          <a:solidFill>
            <a:srgbClr val="65F0AC"/>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1"/>
          <p:cNvSpPr/>
          <p:nvPr/>
        </p:nvSpPr>
        <p:spPr>
          <a:xfrm rot="9000757">
            <a:off x="3133182" y="1882710"/>
            <a:ext cx="2690226" cy="2690226"/>
          </a:xfrm>
          <a:prstGeom prst="blockArc">
            <a:avLst>
              <a:gd fmla="val 20184517" name="adj1"/>
              <a:gd fmla="val 3007258" name="adj2"/>
              <a:gd fmla="val 9336" name="adj3"/>
            </a:avLst>
          </a:prstGeom>
          <a:solidFill>
            <a:srgbClr val="0E9453"/>
          </a:solidFill>
          <a:ln cap="flat" cmpd="sng" w="9525">
            <a:solidFill>
              <a:srgbClr val="0E9453"/>
            </a:solidFill>
            <a:prstDash val="solid"/>
            <a:round/>
            <a:headEnd len="sm" w="sm" type="none"/>
            <a:tailEnd len="sm" w="sm" type="none"/>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1"/>
          <p:cNvSpPr/>
          <p:nvPr/>
        </p:nvSpPr>
        <p:spPr>
          <a:xfrm flipH="1" rot="-9000757">
            <a:off x="3133278" y="1884235"/>
            <a:ext cx="2690226" cy="2690226"/>
          </a:xfrm>
          <a:prstGeom prst="blockArc">
            <a:avLst>
              <a:gd fmla="val 15738599" name="adj1"/>
              <a:gd fmla="val 20008131" name="adj2"/>
              <a:gd fmla="val 9063" name="adj3"/>
            </a:avLst>
          </a:prstGeom>
          <a:solidFill>
            <a:srgbClr val="085630"/>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1"/>
          <p:cNvSpPr/>
          <p:nvPr/>
        </p:nvSpPr>
        <p:spPr>
          <a:xfrm rot="9240359">
            <a:off x="3139261" y="2652767"/>
            <a:ext cx="363469" cy="363469"/>
          </a:xfrm>
          <a:prstGeom prst="rtTriangl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1"/>
          <p:cNvSpPr/>
          <p:nvPr/>
        </p:nvSpPr>
        <p:spPr>
          <a:xfrm rot="476150">
            <a:off x="5045708" y="4034276"/>
            <a:ext cx="362875" cy="362875"/>
          </a:xfrm>
          <a:prstGeom prst="rtTriangl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1"/>
          <p:cNvSpPr/>
          <p:nvPr/>
        </p:nvSpPr>
        <p:spPr>
          <a:xfrm rot="4857950">
            <a:off x="3579473" y="4034228"/>
            <a:ext cx="363003" cy="363003"/>
          </a:xfrm>
          <a:prstGeom prst="rtTriangle">
            <a:avLst/>
          </a:prstGeom>
          <a:solidFill>
            <a:srgbClr val="085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
          <p:cNvSpPr/>
          <p:nvPr/>
        </p:nvSpPr>
        <p:spPr>
          <a:xfrm rot="-8100000">
            <a:off x="4308465" y="1822470"/>
            <a:ext cx="363170" cy="363170"/>
          </a:xfrm>
          <a:prstGeom prst="rtTriangle">
            <a:avLst/>
          </a:prstGeom>
          <a:solidFill>
            <a:srgbClr val="65F0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246" name="Shape 246"/>
        <p:cNvGrpSpPr/>
        <p:nvPr/>
      </p:nvGrpSpPr>
      <p:grpSpPr>
        <a:xfrm>
          <a:off x="0" y="0"/>
          <a:ext cx="0" cy="0"/>
          <a:chOff x="0" y="0"/>
          <a:chExt cx="0" cy="0"/>
        </a:xfrm>
      </p:grpSpPr>
      <p:sp>
        <p:nvSpPr>
          <p:cNvPr id="247" name="Google Shape;247;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4400">
                <a:solidFill>
                  <a:schemeClr val="accent4"/>
                </a:solidFill>
                <a:latin typeface="Calibri"/>
                <a:ea typeface="Calibri"/>
                <a:cs typeface="Calibri"/>
                <a:sym typeface="Calibri"/>
              </a:rPr>
              <a:t>Portfolio </a:t>
            </a:r>
            <a:r>
              <a:rPr lang="en-US" sz="4400">
                <a:solidFill>
                  <a:srgbClr val="000000"/>
                </a:solidFill>
                <a:latin typeface="Calibri"/>
                <a:ea typeface="Calibri"/>
                <a:cs typeface="Calibri"/>
                <a:sym typeface="Calibri"/>
              </a:rPr>
              <a:t>Website</a:t>
            </a:r>
            <a:endParaRPr>
              <a:solidFill>
                <a:srgbClr val="000000"/>
              </a:solidFill>
            </a:endParaRPr>
          </a:p>
        </p:txBody>
      </p:sp>
      <p:sp>
        <p:nvSpPr>
          <p:cNvPr id="248" name="Google Shape;248;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sz="3200">
                <a:solidFill>
                  <a:srgbClr val="000000"/>
                </a:solidFill>
                <a:latin typeface="Calibri"/>
                <a:ea typeface="Calibri"/>
                <a:cs typeface="Calibri"/>
                <a:sym typeface="Calibri"/>
              </a:rPr>
              <a:t>Your digital home base</a:t>
            </a:r>
            <a:endParaRPr sz="3200">
              <a:solidFill>
                <a:srgbClr val="000000"/>
              </a:solidFill>
              <a:latin typeface="Calibri"/>
              <a:ea typeface="Calibri"/>
              <a:cs typeface="Calibri"/>
              <a:sym typeface="Calibri"/>
            </a:endParaRPr>
          </a:p>
          <a:p>
            <a:pPr indent="-342900" lvl="0" marL="342900" marR="0" rtl="0" algn="l">
              <a:lnSpc>
                <a:spcPct val="115000"/>
              </a:lnSpc>
              <a:spcBef>
                <a:spcPts val="0"/>
              </a:spcBef>
              <a:spcAft>
                <a:spcPts val="0"/>
              </a:spcAft>
              <a:buClr>
                <a:srgbClr val="000000"/>
              </a:buClr>
              <a:buSzPts val="3200"/>
              <a:buChar char="●"/>
            </a:pPr>
            <a:r>
              <a:rPr lang="en-US" sz="3200">
                <a:solidFill>
                  <a:srgbClr val="000000"/>
                </a:solidFill>
                <a:latin typeface="Calibri"/>
                <a:ea typeface="Calibri"/>
                <a:cs typeface="Calibri"/>
                <a:sym typeface="Calibri"/>
              </a:rPr>
              <a:t>Showcases projects, blog posts, and your professional story.</a:t>
            </a:r>
            <a:endParaRPr sz="3200">
              <a:solidFill>
                <a:srgbClr val="000000"/>
              </a:solidFill>
              <a:latin typeface="Calibri"/>
              <a:ea typeface="Calibri"/>
              <a:cs typeface="Calibri"/>
              <a:sym typeface="Calibri"/>
            </a:endParaRPr>
          </a:p>
          <a:p>
            <a:pPr indent="-342900" lvl="0" marL="342900" marR="0" rtl="0" algn="l">
              <a:lnSpc>
                <a:spcPct val="115000"/>
              </a:lnSpc>
              <a:spcBef>
                <a:spcPts val="0"/>
              </a:spcBef>
              <a:spcAft>
                <a:spcPts val="0"/>
              </a:spcAft>
              <a:buClr>
                <a:srgbClr val="000000"/>
              </a:buClr>
              <a:buSzPts val="3200"/>
              <a:buChar char="●"/>
            </a:pPr>
            <a:r>
              <a:rPr lang="en-US" sz="3200">
                <a:solidFill>
                  <a:srgbClr val="000000"/>
                </a:solidFill>
                <a:latin typeface="Calibri"/>
                <a:ea typeface="Calibri"/>
                <a:cs typeface="Calibri"/>
                <a:sym typeface="Calibri"/>
              </a:rPr>
              <a:t>Scales your visibility beyond your current job.</a:t>
            </a:r>
            <a:endParaRPr sz="3200">
              <a:solidFill>
                <a:srgbClr val="000000"/>
              </a:solidFill>
              <a:latin typeface="Calibri"/>
              <a:ea typeface="Calibri"/>
              <a:cs typeface="Calibri"/>
              <a:sym typeface="Calibri"/>
            </a:endParaRPr>
          </a:p>
        </p:txBody>
      </p:sp>
      <p:sp>
        <p:nvSpPr>
          <p:cNvPr id="249" name="Google Shape;249;p23"/>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253" name="Shape 253"/>
        <p:cNvGrpSpPr/>
        <p:nvPr/>
      </p:nvGrpSpPr>
      <p:grpSpPr>
        <a:xfrm>
          <a:off x="0" y="0"/>
          <a:ext cx="0" cy="0"/>
          <a:chOff x="0" y="0"/>
          <a:chExt cx="0" cy="0"/>
        </a:xfrm>
      </p:grpSpPr>
      <p:sp>
        <p:nvSpPr>
          <p:cNvPr id="254" name="Google Shape;254;g36cdcb6ff9a_0_2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4400">
                <a:solidFill>
                  <a:schemeClr val="accent4"/>
                </a:solidFill>
                <a:latin typeface="Calibri"/>
                <a:ea typeface="Calibri"/>
                <a:cs typeface="Calibri"/>
                <a:sym typeface="Calibri"/>
              </a:rPr>
              <a:t>Knowledge </a:t>
            </a:r>
            <a:r>
              <a:rPr lang="en-US" sz="4400">
                <a:solidFill>
                  <a:srgbClr val="000000"/>
                </a:solidFill>
                <a:latin typeface="Calibri"/>
                <a:ea typeface="Calibri"/>
                <a:cs typeface="Calibri"/>
                <a:sym typeface="Calibri"/>
              </a:rPr>
              <a:t>Repository</a:t>
            </a:r>
            <a:endParaRPr>
              <a:solidFill>
                <a:srgbClr val="000000"/>
              </a:solidFill>
            </a:endParaRPr>
          </a:p>
        </p:txBody>
      </p:sp>
      <p:sp>
        <p:nvSpPr>
          <p:cNvPr id="255" name="Google Shape;255;g36cdcb6ff9a_0_27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431800" lvl="0" marL="342900" rtl="0" algn="l">
              <a:spcBef>
                <a:spcPts val="0"/>
              </a:spcBef>
              <a:spcAft>
                <a:spcPts val="0"/>
              </a:spcAft>
              <a:buClr>
                <a:srgbClr val="000000"/>
              </a:buClr>
              <a:buSzPts val="3200"/>
              <a:buChar char="●"/>
            </a:pPr>
            <a:r>
              <a:rPr lang="en-US" sz="3200">
                <a:solidFill>
                  <a:srgbClr val="000000"/>
                </a:solidFill>
                <a:latin typeface="Calibri"/>
                <a:ea typeface="Calibri"/>
                <a:cs typeface="Calibri"/>
                <a:sym typeface="Calibri"/>
              </a:rPr>
              <a:t>Living documentation (internal or public)</a:t>
            </a:r>
            <a:endParaRPr sz="3200">
              <a:solidFill>
                <a:srgbClr val="000000"/>
              </a:solidFill>
              <a:latin typeface="Calibri"/>
              <a:ea typeface="Calibri"/>
              <a:cs typeface="Calibri"/>
              <a:sym typeface="Calibri"/>
            </a:endParaRPr>
          </a:p>
          <a:p>
            <a:pPr indent="-431800" lvl="0" marL="342900" rtl="0" algn="l">
              <a:spcBef>
                <a:spcPts val="0"/>
              </a:spcBef>
              <a:spcAft>
                <a:spcPts val="0"/>
              </a:spcAft>
              <a:buClr>
                <a:srgbClr val="000000"/>
              </a:buClr>
              <a:buSzPts val="3200"/>
              <a:buChar char="●"/>
            </a:pPr>
            <a:r>
              <a:rPr lang="en-US" sz="3200">
                <a:solidFill>
                  <a:srgbClr val="000000"/>
                </a:solidFill>
                <a:latin typeface="Calibri"/>
                <a:ea typeface="Calibri"/>
                <a:cs typeface="Calibri"/>
                <a:sym typeface="Calibri"/>
              </a:rPr>
              <a:t>Scales your expertise across teams and time.</a:t>
            </a:r>
            <a:endParaRPr sz="3200">
              <a:solidFill>
                <a:srgbClr val="000000"/>
              </a:solidFill>
              <a:latin typeface="Calibri"/>
              <a:ea typeface="Calibri"/>
              <a:cs typeface="Calibri"/>
              <a:sym typeface="Calibri"/>
            </a:endParaRPr>
          </a:p>
          <a:p>
            <a:pPr indent="-431800" lvl="0" marL="342900" rtl="0" algn="l">
              <a:spcBef>
                <a:spcPts val="0"/>
              </a:spcBef>
              <a:spcAft>
                <a:spcPts val="0"/>
              </a:spcAft>
              <a:buClr>
                <a:srgbClr val="000000"/>
              </a:buClr>
              <a:buSzPts val="3200"/>
              <a:buChar char="●"/>
            </a:pPr>
            <a:r>
              <a:rPr lang="en-US" sz="3200">
                <a:solidFill>
                  <a:srgbClr val="000000"/>
                </a:solidFill>
                <a:latin typeface="Calibri"/>
                <a:ea typeface="Calibri"/>
                <a:cs typeface="Calibri"/>
                <a:sym typeface="Calibri"/>
              </a:rPr>
              <a:t>Each doc = visibility + trust compounding.</a:t>
            </a:r>
            <a:endParaRPr sz="3200">
              <a:solidFill>
                <a:srgbClr val="000000"/>
              </a:solidFill>
              <a:latin typeface="Calibri"/>
              <a:ea typeface="Calibri"/>
              <a:cs typeface="Calibri"/>
              <a:sym typeface="Calibri"/>
            </a:endParaRPr>
          </a:p>
          <a:p>
            <a:pPr indent="0" lvl="0" marL="342900" marR="0" rtl="0" algn="l">
              <a:lnSpc>
                <a:spcPct val="115000"/>
              </a:lnSpc>
              <a:spcBef>
                <a:spcPts val="0"/>
              </a:spcBef>
              <a:spcAft>
                <a:spcPts val="0"/>
              </a:spcAft>
              <a:buNone/>
            </a:pPr>
            <a:r>
              <a:t/>
            </a:r>
            <a:endParaRPr sz="3200">
              <a:solidFill>
                <a:srgbClr val="000000"/>
              </a:solidFill>
              <a:latin typeface="Calibri"/>
              <a:ea typeface="Calibri"/>
              <a:cs typeface="Calibri"/>
              <a:sym typeface="Calibri"/>
            </a:endParaRPr>
          </a:p>
        </p:txBody>
      </p:sp>
      <p:sp>
        <p:nvSpPr>
          <p:cNvPr id="256" name="Google Shape;256;g36cdcb6ff9a_0_271"/>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260" name="Shape 260"/>
        <p:cNvGrpSpPr/>
        <p:nvPr/>
      </p:nvGrpSpPr>
      <p:grpSpPr>
        <a:xfrm>
          <a:off x="0" y="0"/>
          <a:ext cx="0" cy="0"/>
          <a:chOff x="0" y="0"/>
          <a:chExt cx="0" cy="0"/>
        </a:xfrm>
      </p:grpSpPr>
      <p:sp>
        <p:nvSpPr>
          <p:cNvPr id="261" name="Google Shape;261;g36cdcb6ff9a_0_2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Side </a:t>
            </a:r>
            <a:r>
              <a:rPr b="1" lang="en-US" sz="4400">
                <a:solidFill>
                  <a:schemeClr val="accent4"/>
                </a:solidFill>
                <a:latin typeface="Calibri"/>
                <a:ea typeface="Calibri"/>
                <a:cs typeface="Calibri"/>
                <a:sym typeface="Calibri"/>
              </a:rPr>
              <a:t>Projects</a:t>
            </a:r>
            <a:endParaRPr b="1">
              <a:solidFill>
                <a:schemeClr val="accent4"/>
              </a:solidFill>
            </a:endParaRPr>
          </a:p>
        </p:txBody>
      </p:sp>
      <p:sp>
        <p:nvSpPr>
          <p:cNvPr id="262" name="Google Shape;262;g36cdcb6ff9a_0_27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431800" lvl="0" marL="457200" rtl="0" algn="l">
              <a:spcBef>
                <a:spcPts val="0"/>
              </a:spcBef>
              <a:spcAft>
                <a:spcPts val="0"/>
              </a:spcAft>
              <a:buClr>
                <a:srgbClr val="000000"/>
              </a:buClr>
              <a:buSzPts val="3200"/>
              <a:buFont typeface="Calibri"/>
              <a:buChar char="●"/>
            </a:pPr>
            <a:r>
              <a:rPr lang="en-US" sz="3200">
                <a:solidFill>
                  <a:srgbClr val="000000"/>
                </a:solidFill>
                <a:latin typeface="Calibri"/>
                <a:ea typeface="Calibri"/>
                <a:cs typeface="Calibri"/>
                <a:sym typeface="Calibri"/>
              </a:rPr>
              <a:t>Small apps, scripts, or utilities</a:t>
            </a:r>
            <a:endParaRPr sz="3200">
              <a:solidFill>
                <a:srgbClr val="000000"/>
              </a:solidFill>
              <a:latin typeface="Calibri"/>
              <a:ea typeface="Calibri"/>
              <a:cs typeface="Calibri"/>
              <a:sym typeface="Calibri"/>
            </a:endParaRPr>
          </a:p>
          <a:p>
            <a:pPr indent="-431800" lvl="0" marL="457200" rtl="0" algn="l">
              <a:spcBef>
                <a:spcPts val="0"/>
              </a:spcBef>
              <a:spcAft>
                <a:spcPts val="0"/>
              </a:spcAft>
              <a:buClr>
                <a:srgbClr val="000000"/>
              </a:buClr>
              <a:buSzPts val="3200"/>
              <a:buFont typeface="Calibri"/>
              <a:buChar char="●"/>
            </a:pPr>
            <a:r>
              <a:rPr lang="en-US" sz="3200">
                <a:solidFill>
                  <a:srgbClr val="000000"/>
                </a:solidFill>
                <a:latin typeface="Calibri"/>
                <a:ea typeface="Calibri"/>
                <a:cs typeface="Calibri"/>
                <a:sym typeface="Calibri"/>
              </a:rPr>
              <a:t>Demonstrates initiative and technical creativity.</a:t>
            </a:r>
            <a:endParaRPr sz="3200">
              <a:solidFill>
                <a:srgbClr val="000000"/>
              </a:solidFill>
              <a:latin typeface="Calibri"/>
              <a:ea typeface="Calibri"/>
              <a:cs typeface="Calibri"/>
              <a:sym typeface="Calibri"/>
            </a:endParaRPr>
          </a:p>
          <a:p>
            <a:pPr indent="-431800" lvl="0" marL="457200" rtl="0" algn="l">
              <a:spcBef>
                <a:spcPts val="0"/>
              </a:spcBef>
              <a:spcAft>
                <a:spcPts val="0"/>
              </a:spcAft>
              <a:buClr>
                <a:srgbClr val="000000"/>
              </a:buClr>
              <a:buSzPts val="3200"/>
              <a:buFont typeface="Calibri"/>
              <a:buChar char="●"/>
            </a:pPr>
            <a:r>
              <a:rPr lang="en-US" sz="3200">
                <a:solidFill>
                  <a:srgbClr val="000000"/>
                </a:solidFill>
                <a:latin typeface="Calibri"/>
                <a:ea typeface="Calibri"/>
                <a:cs typeface="Calibri"/>
                <a:sym typeface="Calibri"/>
              </a:rPr>
              <a:t>Scales your impact by solving pain points once for many.</a:t>
            </a:r>
            <a:endParaRPr sz="3200">
              <a:solidFill>
                <a:srgbClr val="000000"/>
              </a:solidFill>
              <a:latin typeface="Calibri"/>
              <a:ea typeface="Calibri"/>
              <a:cs typeface="Calibri"/>
              <a:sym typeface="Calibri"/>
            </a:endParaRPr>
          </a:p>
        </p:txBody>
      </p:sp>
      <p:sp>
        <p:nvSpPr>
          <p:cNvPr id="263" name="Google Shape;263;g36cdcb6ff9a_0_279"/>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267" name="Shape 267"/>
        <p:cNvGrpSpPr/>
        <p:nvPr/>
      </p:nvGrpSpPr>
      <p:grpSpPr>
        <a:xfrm>
          <a:off x="0" y="0"/>
          <a:ext cx="0" cy="0"/>
          <a:chOff x="0" y="0"/>
          <a:chExt cx="0" cy="0"/>
        </a:xfrm>
      </p:grpSpPr>
      <p:sp>
        <p:nvSpPr>
          <p:cNvPr id="268" name="Google Shape;268;g36cdcb6ff9a_0_2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4400">
                <a:solidFill>
                  <a:schemeClr val="accent4"/>
                </a:solidFill>
                <a:latin typeface="Calibri"/>
                <a:ea typeface="Calibri"/>
                <a:cs typeface="Calibri"/>
                <a:sym typeface="Calibri"/>
              </a:rPr>
              <a:t>Content </a:t>
            </a:r>
            <a:r>
              <a:rPr lang="en-US" sz="4400">
                <a:solidFill>
                  <a:srgbClr val="000000"/>
                </a:solidFill>
                <a:latin typeface="Calibri"/>
                <a:ea typeface="Calibri"/>
                <a:cs typeface="Calibri"/>
                <a:sym typeface="Calibri"/>
              </a:rPr>
              <a:t>Platforms</a:t>
            </a:r>
            <a:endParaRPr>
              <a:solidFill>
                <a:srgbClr val="000000"/>
              </a:solidFill>
            </a:endParaRPr>
          </a:p>
        </p:txBody>
      </p:sp>
      <p:sp>
        <p:nvSpPr>
          <p:cNvPr id="269" name="Google Shape;269;g36cdcb6ff9a_0_28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431800" lvl="0" marL="457200" rtl="0" algn="l">
              <a:spcBef>
                <a:spcPts val="0"/>
              </a:spcBef>
              <a:spcAft>
                <a:spcPts val="0"/>
              </a:spcAft>
              <a:buClr>
                <a:srgbClr val="000000"/>
              </a:buClr>
              <a:buSzPts val="3200"/>
              <a:buFont typeface="Calibri"/>
              <a:buChar char="●"/>
            </a:pPr>
            <a:r>
              <a:rPr lang="en-US" sz="3200">
                <a:solidFill>
                  <a:srgbClr val="000000"/>
                </a:solidFill>
                <a:latin typeface="Calibri"/>
                <a:ea typeface="Calibri"/>
                <a:cs typeface="Calibri"/>
                <a:sym typeface="Calibri"/>
              </a:rPr>
              <a:t>LinkedIn, GitHub, Gumroad, Blog.</a:t>
            </a:r>
            <a:endParaRPr sz="3200">
              <a:solidFill>
                <a:srgbClr val="000000"/>
              </a:solidFill>
              <a:latin typeface="Calibri"/>
              <a:ea typeface="Calibri"/>
              <a:cs typeface="Calibri"/>
              <a:sym typeface="Calibri"/>
            </a:endParaRPr>
          </a:p>
          <a:p>
            <a:pPr indent="-431800" lvl="0" marL="457200" rtl="0" algn="l">
              <a:spcBef>
                <a:spcPts val="0"/>
              </a:spcBef>
              <a:spcAft>
                <a:spcPts val="0"/>
              </a:spcAft>
              <a:buClr>
                <a:srgbClr val="000000"/>
              </a:buClr>
              <a:buSzPts val="3200"/>
              <a:buFont typeface="Calibri"/>
              <a:buChar char="●"/>
            </a:pPr>
            <a:r>
              <a:rPr lang="en-US" sz="3200">
                <a:solidFill>
                  <a:srgbClr val="000000"/>
                </a:solidFill>
                <a:latin typeface="Calibri"/>
                <a:ea typeface="Calibri"/>
                <a:cs typeface="Calibri"/>
                <a:sym typeface="Calibri"/>
              </a:rPr>
              <a:t>Amplify what you build and learn.</a:t>
            </a:r>
            <a:endParaRPr sz="3200">
              <a:solidFill>
                <a:srgbClr val="000000"/>
              </a:solidFill>
              <a:latin typeface="Calibri"/>
              <a:ea typeface="Calibri"/>
              <a:cs typeface="Calibri"/>
              <a:sym typeface="Calibri"/>
            </a:endParaRPr>
          </a:p>
          <a:p>
            <a:pPr indent="-431800" lvl="0" marL="457200" rtl="0" algn="l">
              <a:spcBef>
                <a:spcPts val="0"/>
              </a:spcBef>
              <a:spcAft>
                <a:spcPts val="0"/>
              </a:spcAft>
              <a:buClr>
                <a:srgbClr val="000000"/>
              </a:buClr>
              <a:buSzPts val="3200"/>
              <a:buFont typeface="Calibri"/>
              <a:buChar char="●"/>
            </a:pPr>
            <a:r>
              <a:rPr lang="en-US" sz="3200">
                <a:solidFill>
                  <a:srgbClr val="000000"/>
                </a:solidFill>
                <a:latin typeface="Calibri"/>
                <a:ea typeface="Calibri"/>
                <a:cs typeface="Calibri"/>
                <a:sym typeface="Calibri"/>
              </a:rPr>
              <a:t>Scales reputation across communities and industries.</a:t>
            </a:r>
            <a:endParaRPr sz="3200">
              <a:solidFill>
                <a:srgbClr val="000000"/>
              </a:solidFill>
              <a:latin typeface="Calibri"/>
              <a:ea typeface="Calibri"/>
              <a:cs typeface="Calibri"/>
              <a:sym typeface="Calibri"/>
            </a:endParaRPr>
          </a:p>
        </p:txBody>
      </p:sp>
      <p:sp>
        <p:nvSpPr>
          <p:cNvPr id="270" name="Google Shape;270;g36cdcb6ff9a_0_288"/>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274" name="Shape 274"/>
        <p:cNvGrpSpPr/>
        <p:nvPr/>
      </p:nvGrpSpPr>
      <p:grpSpPr>
        <a:xfrm>
          <a:off x="0" y="0"/>
          <a:ext cx="0" cy="0"/>
          <a:chOff x="0" y="0"/>
          <a:chExt cx="0" cy="0"/>
        </a:xfrm>
      </p:grpSpPr>
      <p:sp>
        <p:nvSpPr>
          <p:cNvPr id="275" name="Google Shape;275;g36cdcb6ff9a_0_2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Feedback &amp; </a:t>
            </a:r>
            <a:r>
              <a:rPr b="1" lang="en-US" sz="4400">
                <a:solidFill>
                  <a:schemeClr val="accent4"/>
                </a:solidFill>
                <a:latin typeface="Calibri"/>
                <a:ea typeface="Calibri"/>
                <a:cs typeface="Calibri"/>
                <a:sym typeface="Calibri"/>
              </a:rPr>
              <a:t>Analytics </a:t>
            </a:r>
            <a:r>
              <a:rPr lang="en-US" sz="4400">
                <a:solidFill>
                  <a:srgbClr val="000000"/>
                </a:solidFill>
                <a:latin typeface="Calibri"/>
                <a:ea typeface="Calibri"/>
                <a:cs typeface="Calibri"/>
                <a:sym typeface="Calibri"/>
              </a:rPr>
              <a:t>Loops</a:t>
            </a:r>
            <a:endParaRPr>
              <a:solidFill>
                <a:srgbClr val="000000"/>
              </a:solidFill>
            </a:endParaRPr>
          </a:p>
        </p:txBody>
      </p:sp>
      <p:sp>
        <p:nvSpPr>
          <p:cNvPr id="276" name="Google Shape;276;g36cdcb6ff9a_0_29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425450" lvl="0" marL="457200" rtl="0" algn="l">
              <a:spcBef>
                <a:spcPts val="0"/>
              </a:spcBef>
              <a:spcAft>
                <a:spcPts val="0"/>
              </a:spcAft>
              <a:buClr>
                <a:srgbClr val="000000"/>
              </a:buClr>
              <a:buSzPts val="3100"/>
              <a:buFont typeface="Calibri"/>
              <a:buChar char="●"/>
            </a:pPr>
            <a:r>
              <a:rPr lang="en-US" sz="3100">
                <a:solidFill>
                  <a:srgbClr val="000000"/>
                </a:solidFill>
                <a:latin typeface="Calibri"/>
                <a:ea typeface="Calibri"/>
                <a:cs typeface="Calibri"/>
                <a:sym typeface="Calibri"/>
              </a:rPr>
              <a:t>Tools to gather insights (GitHub stars, LinkedIn analytics, Google Analytics, survey polls).</a:t>
            </a:r>
            <a:endParaRPr sz="3100">
              <a:solidFill>
                <a:srgbClr val="000000"/>
              </a:solidFill>
              <a:latin typeface="Calibri"/>
              <a:ea typeface="Calibri"/>
              <a:cs typeface="Calibri"/>
              <a:sym typeface="Calibri"/>
            </a:endParaRPr>
          </a:p>
          <a:p>
            <a:pPr indent="-425450" lvl="0" marL="457200" rtl="0" algn="l">
              <a:spcBef>
                <a:spcPts val="0"/>
              </a:spcBef>
              <a:spcAft>
                <a:spcPts val="0"/>
              </a:spcAft>
              <a:buClr>
                <a:srgbClr val="000000"/>
              </a:buClr>
              <a:buSzPts val="3100"/>
              <a:buFont typeface="Calibri"/>
              <a:buChar char="●"/>
            </a:pPr>
            <a:r>
              <a:rPr lang="en-US" sz="3100">
                <a:solidFill>
                  <a:srgbClr val="000000"/>
                </a:solidFill>
                <a:latin typeface="Calibri"/>
                <a:ea typeface="Calibri"/>
                <a:cs typeface="Calibri"/>
                <a:sym typeface="Calibri"/>
              </a:rPr>
              <a:t>Helps refine and grow your brand strategically.</a:t>
            </a:r>
            <a:endParaRPr sz="3100">
              <a:solidFill>
                <a:srgbClr val="000000"/>
              </a:solidFill>
              <a:latin typeface="Calibri"/>
              <a:ea typeface="Calibri"/>
              <a:cs typeface="Calibri"/>
              <a:sym typeface="Calibri"/>
            </a:endParaRPr>
          </a:p>
          <a:p>
            <a:pPr indent="-425450" lvl="0" marL="457200" rtl="0" algn="l">
              <a:spcBef>
                <a:spcPts val="0"/>
              </a:spcBef>
              <a:spcAft>
                <a:spcPts val="0"/>
              </a:spcAft>
              <a:buClr>
                <a:srgbClr val="000000"/>
              </a:buClr>
              <a:buSzPts val="3100"/>
              <a:buFont typeface="Calibri"/>
              <a:buChar char="●"/>
            </a:pPr>
            <a:r>
              <a:rPr lang="en-US" sz="3100">
                <a:solidFill>
                  <a:srgbClr val="000000"/>
                </a:solidFill>
                <a:latin typeface="Calibri"/>
                <a:ea typeface="Calibri"/>
                <a:cs typeface="Calibri"/>
                <a:sym typeface="Calibri"/>
              </a:rPr>
              <a:t>Scales improvement - you adapt as your audience grows.</a:t>
            </a:r>
            <a:endParaRPr sz="3100">
              <a:solidFill>
                <a:srgbClr val="000000"/>
              </a:solidFill>
              <a:latin typeface="Calibri"/>
              <a:ea typeface="Calibri"/>
              <a:cs typeface="Calibri"/>
              <a:sym typeface="Calibri"/>
            </a:endParaRPr>
          </a:p>
        </p:txBody>
      </p:sp>
      <p:sp>
        <p:nvSpPr>
          <p:cNvPr id="277" name="Google Shape;277;g36cdcb6ff9a_0_296"/>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281" name="Shape 281"/>
        <p:cNvGrpSpPr/>
        <p:nvPr/>
      </p:nvGrpSpPr>
      <p:grpSpPr>
        <a:xfrm>
          <a:off x="0" y="0"/>
          <a:ext cx="0" cy="0"/>
          <a:chOff x="0" y="0"/>
          <a:chExt cx="0" cy="0"/>
        </a:xfrm>
      </p:grpSpPr>
      <p:sp>
        <p:nvSpPr>
          <p:cNvPr id="282" name="Google Shape;282;g36cdcb6ff9a_0_304"/>
          <p:cNvSpPr txBox="1"/>
          <p:nvPr>
            <p:ph type="title"/>
          </p:nvPr>
        </p:nvSpPr>
        <p:spPr>
          <a:xfrm>
            <a:off x="265500" y="1834132"/>
            <a:ext cx="4045200" cy="2069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Worksession</a:t>
            </a:r>
            <a:endParaRPr/>
          </a:p>
        </p:txBody>
      </p:sp>
      <p:sp>
        <p:nvSpPr>
          <p:cNvPr id="283" name="Google Shape;283;g36cdcb6ff9a_0_304"/>
          <p:cNvSpPr txBox="1"/>
          <p:nvPr>
            <p:ph idx="12" type="sldNum"/>
          </p:nvPr>
        </p:nvSpPr>
        <p:spPr>
          <a:xfrm>
            <a:off x="8472458" y="627157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84" name="Google Shape;284;g36cdcb6ff9a_0_304"/>
          <p:cNvSpPr txBox="1"/>
          <p:nvPr>
            <p:ph idx="2" type="body"/>
          </p:nvPr>
        </p:nvSpPr>
        <p:spPr>
          <a:xfrm>
            <a:off x="4939500" y="965600"/>
            <a:ext cx="3837000" cy="39426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US" sz="2500"/>
              <a:t>Your Career Brand Starts Today!</a:t>
            </a:r>
            <a:endParaRPr sz="25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288" name="Shape 288"/>
        <p:cNvGrpSpPr/>
        <p:nvPr/>
      </p:nvGrpSpPr>
      <p:grpSpPr>
        <a:xfrm>
          <a:off x="0" y="0"/>
          <a:ext cx="0" cy="0"/>
          <a:chOff x="0" y="0"/>
          <a:chExt cx="0" cy="0"/>
        </a:xfrm>
      </p:grpSpPr>
      <p:sp>
        <p:nvSpPr>
          <p:cNvPr id="289" name="Google Shape;28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Worksession - Your Career Brand</a:t>
            </a:r>
            <a:endParaRPr>
              <a:solidFill>
                <a:srgbClr val="000000"/>
              </a:solidFill>
            </a:endParaRPr>
          </a:p>
        </p:txBody>
      </p:sp>
      <p:sp>
        <p:nvSpPr>
          <p:cNvPr id="290" name="Google Shape;290;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98450" lvl="0" marL="342900" marR="0" rtl="0" algn="l">
              <a:lnSpc>
                <a:spcPct val="150000"/>
              </a:lnSpc>
              <a:spcBef>
                <a:spcPts val="0"/>
              </a:spcBef>
              <a:spcAft>
                <a:spcPts val="0"/>
              </a:spcAft>
              <a:buClr>
                <a:srgbClr val="000000"/>
              </a:buClr>
              <a:buSzPts val="2500"/>
              <a:buAutoNum type="arabicPeriod"/>
            </a:pPr>
            <a:r>
              <a:rPr lang="en-US" sz="2500">
                <a:solidFill>
                  <a:srgbClr val="000000"/>
                </a:solidFill>
                <a:latin typeface="Calibri"/>
                <a:ea typeface="Calibri"/>
                <a:cs typeface="Calibri"/>
                <a:sym typeface="Calibri"/>
              </a:rPr>
              <a:t>Write down </a:t>
            </a:r>
            <a:r>
              <a:rPr b="1" lang="en-US" sz="2500">
                <a:solidFill>
                  <a:schemeClr val="accent4"/>
                </a:solidFill>
                <a:latin typeface="Calibri"/>
                <a:ea typeface="Calibri"/>
                <a:cs typeface="Calibri"/>
                <a:sym typeface="Calibri"/>
              </a:rPr>
              <a:t>three words</a:t>
            </a:r>
            <a:r>
              <a:rPr lang="en-US" sz="2500">
                <a:solidFill>
                  <a:srgbClr val="000000"/>
                </a:solidFill>
                <a:latin typeface="Calibri"/>
                <a:ea typeface="Calibri"/>
                <a:cs typeface="Calibri"/>
                <a:sym typeface="Calibri"/>
              </a:rPr>
              <a:t> you want people to associate with your Career Brand.</a:t>
            </a:r>
            <a:endParaRPr sz="2500">
              <a:solidFill>
                <a:srgbClr val="000000"/>
              </a:solidFill>
              <a:latin typeface="Calibri"/>
              <a:ea typeface="Calibri"/>
              <a:cs typeface="Calibri"/>
              <a:sym typeface="Calibri"/>
            </a:endParaRPr>
          </a:p>
          <a:p>
            <a:pPr indent="-298450" lvl="0" marL="342900" marR="0" rtl="0" algn="l">
              <a:lnSpc>
                <a:spcPct val="150000"/>
              </a:lnSpc>
              <a:spcBef>
                <a:spcPts val="0"/>
              </a:spcBef>
              <a:spcAft>
                <a:spcPts val="0"/>
              </a:spcAft>
              <a:buClr>
                <a:srgbClr val="000000"/>
              </a:buClr>
              <a:buSzPts val="2500"/>
              <a:buAutoNum type="arabicPeriod"/>
            </a:pPr>
            <a:r>
              <a:rPr lang="en-US" sz="2500">
                <a:solidFill>
                  <a:srgbClr val="000000"/>
                </a:solidFill>
                <a:latin typeface="Calibri"/>
                <a:ea typeface="Calibri"/>
                <a:cs typeface="Calibri"/>
                <a:sym typeface="Calibri"/>
              </a:rPr>
              <a:t>Turn to your neighbor, </a:t>
            </a:r>
            <a:r>
              <a:rPr b="1" lang="en-US" sz="2500">
                <a:solidFill>
                  <a:schemeClr val="accent4"/>
                </a:solidFill>
                <a:latin typeface="Calibri"/>
                <a:ea typeface="Calibri"/>
                <a:cs typeface="Calibri"/>
                <a:sym typeface="Calibri"/>
              </a:rPr>
              <a:t>share </a:t>
            </a:r>
            <a:r>
              <a:rPr lang="en-US" sz="2500">
                <a:solidFill>
                  <a:srgbClr val="000000"/>
                </a:solidFill>
                <a:latin typeface="Calibri"/>
                <a:ea typeface="Calibri"/>
                <a:cs typeface="Calibri"/>
                <a:sym typeface="Calibri"/>
              </a:rPr>
              <a:t>your 3 words.</a:t>
            </a:r>
            <a:endParaRPr sz="2500">
              <a:solidFill>
                <a:srgbClr val="000000"/>
              </a:solidFill>
              <a:latin typeface="Calibri"/>
              <a:ea typeface="Calibri"/>
              <a:cs typeface="Calibri"/>
              <a:sym typeface="Calibri"/>
            </a:endParaRPr>
          </a:p>
          <a:p>
            <a:pPr indent="-298450" lvl="0" marL="342900" marR="0" rtl="0" algn="l">
              <a:lnSpc>
                <a:spcPct val="150000"/>
              </a:lnSpc>
              <a:spcBef>
                <a:spcPts val="0"/>
              </a:spcBef>
              <a:spcAft>
                <a:spcPts val="0"/>
              </a:spcAft>
              <a:buClr>
                <a:srgbClr val="000000"/>
              </a:buClr>
              <a:buSzPts val="2500"/>
              <a:buFont typeface="Calibri"/>
              <a:buAutoNum type="arabicPeriod"/>
            </a:pPr>
            <a:r>
              <a:rPr lang="en-US" sz="2500">
                <a:solidFill>
                  <a:srgbClr val="000000"/>
                </a:solidFill>
                <a:latin typeface="Calibri"/>
                <a:ea typeface="Calibri"/>
                <a:cs typeface="Calibri"/>
                <a:sym typeface="Calibri"/>
              </a:rPr>
              <a:t>What is </a:t>
            </a:r>
            <a:r>
              <a:rPr b="1" lang="en-US" sz="2500">
                <a:solidFill>
                  <a:schemeClr val="accent4"/>
                </a:solidFill>
                <a:latin typeface="Calibri"/>
                <a:ea typeface="Calibri"/>
                <a:cs typeface="Calibri"/>
                <a:sym typeface="Calibri"/>
              </a:rPr>
              <a:t>one action step</a:t>
            </a:r>
            <a:r>
              <a:rPr lang="en-US" sz="2500">
                <a:solidFill>
                  <a:srgbClr val="000000"/>
                </a:solidFill>
                <a:latin typeface="Calibri"/>
                <a:ea typeface="Calibri"/>
                <a:cs typeface="Calibri"/>
                <a:sym typeface="Calibri"/>
              </a:rPr>
              <a:t> you can take this semester to grow your career brand?</a:t>
            </a:r>
            <a:endParaRPr sz="2500">
              <a:solidFill>
                <a:srgbClr val="000000"/>
              </a:solidFill>
              <a:latin typeface="Calibri"/>
              <a:ea typeface="Calibri"/>
              <a:cs typeface="Calibri"/>
              <a:sym typeface="Calibri"/>
            </a:endParaRPr>
          </a:p>
          <a:p>
            <a:pPr indent="0" lvl="0" marL="0" rtl="0" algn="l">
              <a:lnSpc>
                <a:spcPct val="150000"/>
              </a:lnSpc>
              <a:spcBef>
                <a:spcPts val="0"/>
              </a:spcBef>
              <a:spcAft>
                <a:spcPts val="1200"/>
              </a:spcAft>
              <a:buNone/>
            </a:pPr>
            <a:r>
              <a:t/>
            </a:r>
            <a:endParaRPr sz="2500">
              <a:solidFill>
                <a:srgbClr val="000000"/>
              </a:solidFill>
              <a:latin typeface="Calibri"/>
              <a:ea typeface="Calibri"/>
              <a:cs typeface="Calibri"/>
              <a:sym typeface="Calibri"/>
            </a:endParaRPr>
          </a:p>
        </p:txBody>
      </p:sp>
      <p:sp>
        <p:nvSpPr>
          <p:cNvPr id="291" name="Google Shape;291;p25"/>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295" name="Shape 295"/>
        <p:cNvGrpSpPr/>
        <p:nvPr/>
      </p:nvGrpSpPr>
      <p:grpSpPr>
        <a:xfrm>
          <a:off x="0" y="0"/>
          <a:ext cx="0" cy="0"/>
          <a:chOff x="0" y="0"/>
          <a:chExt cx="0" cy="0"/>
        </a:xfrm>
      </p:grpSpPr>
      <p:sp>
        <p:nvSpPr>
          <p:cNvPr id="296" name="Google Shape;296;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000000"/>
                </a:solidFill>
                <a:latin typeface="Calibri"/>
                <a:ea typeface="Calibri"/>
                <a:cs typeface="Calibri"/>
                <a:sym typeface="Calibri"/>
              </a:rPr>
              <a:t>Key Summary</a:t>
            </a:r>
            <a:endParaRPr>
              <a:solidFill>
                <a:srgbClr val="000000"/>
              </a:solidFill>
            </a:endParaRPr>
          </a:p>
        </p:txBody>
      </p:sp>
      <p:sp>
        <p:nvSpPr>
          <p:cNvPr id="297" name="Google Shape;297;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53060" lvl="0" marL="342900" rtl="0" algn="l">
              <a:lnSpc>
                <a:spcPct val="115000"/>
              </a:lnSpc>
              <a:spcBef>
                <a:spcPts val="0"/>
              </a:spcBef>
              <a:spcAft>
                <a:spcPts val="0"/>
              </a:spcAft>
              <a:buClr>
                <a:srgbClr val="000000"/>
              </a:buClr>
              <a:buSzPts val="1960"/>
              <a:buChar char="●"/>
            </a:pPr>
            <a:r>
              <a:rPr lang="en-US" sz="1960">
                <a:solidFill>
                  <a:srgbClr val="000000"/>
                </a:solidFill>
                <a:latin typeface="Calibri"/>
                <a:ea typeface="Calibri"/>
                <a:cs typeface="Calibri"/>
                <a:sym typeface="Calibri"/>
              </a:rPr>
              <a:t>Hard work isn’t enough - if nobody sees it, it doesn’t scale.</a:t>
            </a:r>
            <a:endParaRPr sz="1960">
              <a:solidFill>
                <a:srgbClr val="000000"/>
              </a:solidFill>
              <a:latin typeface="Calibri"/>
              <a:ea typeface="Calibri"/>
              <a:cs typeface="Calibri"/>
              <a:sym typeface="Calibri"/>
            </a:endParaRPr>
          </a:p>
          <a:p>
            <a:pPr indent="-353060" lvl="0" marL="342900" rtl="0" algn="l">
              <a:lnSpc>
                <a:spcPct val="115000"/>
              </a:lnSpc>
              <a:spcBef>
                <a:spcPts val="0"/>
              </a:spcBef>
              <a:spcAft>
                <a:spcPts val="0"/>
              </a:spcAft>
              <a:buClr>
                <a:srgbClr val="000000"/>
              </a:buClr>
              <a:buSzPts val="1960"/>
              <a:buChar char="●"/>
            </a:pPr>
            <a:r>
              <a:rPr lang="en-US" sz="1960">
                <a:solidFill>
                  <a:srgbClr val="000000"/>
                </a:solidFill>
                <a:latin typeface="Calibri"/>
                <a:ea typeface="Calibri"/>
                <a:cs typeface="Calibri"/>
                <a:sym typeface="Calibri"/>
              </a:rPr>
              <a:t>Your career brand = visibility + trust + impact.</a:t>
            </a:r>
            <a:endParaRPr sz="1960">
              <a:solidFill>
                <a:srgbClr val="000000"/>
              </a:solidFill>
              <a:latin typeface="Calibri"/>
              <a:ea typeface="Calibri"/>
              <a:cs typeface="Calibri"/>
              <a:sym typeface="Calibri"/>
            </a:endParaRPr>
          </a:p>
          <a:p>
            <a:pPr indent="-353060" lvl="0" marL="342900" rtl="0" algn="l">
              <a:lnSpc>
                <a:spcPct val="115000"/>
              </a:lnSpc>
              <a:spcBef>
                <a:spcPts val="0"/>
              </a:spcBef>
              <a:spcAft>
                <a:spcPts val="0"/>
              </a:spcAft>
              <a:buClr>
                <a:srgbClr val="000000"/>
              </a:buClr>
              <a:buSzPts val="1960"/>
              <a:buChar char="●"/>
            </a:pPr>
            <a:r>
              <a:rPr lang="en-US" sz="1960">
                <a:solidFill>
                  <a:srgbClr val="000000"/>
                </a:solidFill>
                <a:latin typeface="Calibri"/>
                <a:ea typeface="Calibri"/>
                <a:cs typeface="Calibri"/>
                <a:sym typeface="Calibri"/>
              </a:rPr>
              <a:t>Build it through 5 habits:</a:t>
            </a:r>
            <a:endParaRPr sz="1960">
              <a:solidFill>
                <a:srgbClr val="000000"/>
              </a:solidFill>
              <a:latin typeface="Calibri"/>
              <a:ea typeface="Calibri"/>
              <a:cs typeface="Calibri"/>
              <a:sym typeface="Calibri"/>
            </a:endParaRPr>
          </a:p>
          <a:p>
            <a:pPr indent="-295910" lvl="1" marL="742950" rtl="0" algn="l">
              <a:lnSpc>
                <a:spcPct val="115000"/>
              </a:lnSpc>
              <a:spcBef>
                <a:spcPts val="0"/>
              </a:spcBef>
              <a:spcAft>
                <a:spcPts val="0"/>
              </a:spcAft>
              <a:buClr>
                <a:srgbClr val="000000"/>
              </a:buClr>
              <a:buSzPts val="1960"/>
              <a:buChar char="○"/>
            </a:pPr>
            <a:r>
              <a:rPr lang="en-US" sz="1960">
                <a:solidFill>
                  <a:srgbClr val="000000"/>
                </a:solidFill>
                <a:latin typeface="Calibri"/>
                <a:ea typeface="Calibri"/>
                <a:cs typeface="Calibri"/>
                <a:sym typeface="Calibri"/>
              </a:rPr>
              <a:t>Document to outlast yourself</a:t>
            </a:r>
            <a:endParaRPr sz="1960">
              <a:solidFill>
                <a:srgbClr val="000000"/>
              </a:solidFill>
              <a:latin typeface="Calibri"/>
              <a:ea typeface="Calibri"/>
              <a:cs typeface="Calibri"/>
              <a:sym typeface="Calibri"/>
            </a:endParaRPr>
          </a:p>
          <a:p>
            <a:pPr indent="-295910" lvl="1" marL="742950" rtl="0" algn="l">
              <a:lnSpc>
                <a:spcPct val="115000"/>
              </a:lnSpc>
              <a:spcBef>
                <a:spcPts val="0"/>
              </a:spcBef>
              <a:spcAft>
                <a:spcPts val="0"/>
              </a:spcAft>
              <a:buClr>
                <a:srgbClr val="000000"/>
              </a:buClr>
              <a:buSzPts val="1960"/>
              <a:buChar char="○"/>
            </a:pPr>
            <a:r>
              <a:rPr lang="en-US" sz="1960">
                <a:solidFill>
                  <a:srgbClr val="000000"/>
                </a:solidFill>
                <a:latin typeface="Calibri"/>
                <a:ea typeface="Calibri"/>
                <a:cs typeface="Calibri"/>
                <a:sym typeface="Calibri"/>
              </a:rPr>
              <a:t>Go deep and become an SME</a:t>
            </a:r>
            <a:endParaRPr sz="1960">
              <a:solidFill>
                <a:srgbClr val="000000"/>
              </a:solidFill>
              <a:latin typeface="Calibri"/>
              <a:ea typeface="Calibri"/>
              <a:cs typeface="Calibri"/>
              <a:sym typeface="Calibri"/>
            </a:endParaRPr>
          </a:p>
          <a:p>
            <a:pPr indent="-295910" lvl="1" marL="742950" rtl="0" algn="l">
              <a:lnSpc>
                <a:spcPct val="115000"/>
              </a:lnSpc>
              <a:spcBef>
                <a:spcPts val="0"/>
              </a:spcBef>
              <a:spcAft>
                <a:spcPts val="0"/>
              </a:spcAft>
              <a:buClr>
                <a:srgbClr val="000000"/>
              </a:buClr>
              <a:buSzPts val="1960"/>
              <a:buChar char="○"/>
            </a:pPr>
            <a:r>
              <a:rPr lang="en-US" sz="1960">
                <a:solidFill>
                  <a:srgbClr val="000000"/>
                </a:solidFill>
                <a:latin typeface="Calibri"/>
                <a:ea typeface="Calibri"/>
                <a:cs typeface="Calibri"/>
                <a:sym typeface="Calibri"/>
              </a:rPr>
              <a:t>Teach and share knowledge</a:t>
            </a:r>
            <a:endParaRPr sz="1960">
              <a:solidFill>
                <a:srgbClr val="000000"/>
              </a:solidFill>
              <a:latin typeface="Calibri"/>
              <a:ea typeface="Calibri"/>
              <a:cs typeface="Calibri"/>
              <a:sym typeface="Calibri"/>
            </a:endParaRPr>
          </a:p>
          <a:p>
            <a:pPr indent="-295910" lvl="1" marL="742950" rtl="0" algn="l">
              <a:lnSpc>
                <a:spcPct val="115000"/>
              </a:lnSpc>
              <a:spcBef>
                <a:spcPts val="0"/>
              </a:spcBef>
              <a:spcAft>
                <a:spcPts val="0"/>
              </a:spcAft>
              <a:buClr>
                <a:srgbClr val="000000"/>
              </a:buClr>
              <a:buSzPts val="1960"/>
              <a:buChar char="○"/>
            </a:pPr>
            <a:r>
              <a:rPr lang="en-US" sz="1960">
                <a:solidFill>
                  <a:srgbClr val="000000"/>
                </a:solidFill>
                <a:latin typeface="Calibri"/>
                <a:ea typeface="Calibri"/>
                <a:cs typeface="Calibri"/>
                <a:sym typeface="Calibri"/>
              </a:rPr>
              <a:t>Automate recurring pain points</a:t>
            </a:r>
            <a:endParaRPr sz="1960">
              <a:solidFill>
                <a:srgbClr val="000000"/>
              </a:solidFill>
              <a:latin typeface="Calibri"/>
              <a:ea typeface="Calibri"/>
              <a:cs typeface="Calibri"/>
              <a:sym typeface="Calibri"/>
            </a:endParaRPr>
          </a:p>
          <a:p>
            <a:pPr indent="-295910" lvl="1" marL="742950" rtl="0" algn="l">
              <a:lnSpc>
                <a:spcPct val="115000"/>
              </a:lnSpc>
              <a:spcBef>
                <a:spcPts val="0"/>
              </a:spcBef>
              <a:spcAft>
                <a:spcPts val="0"/>
              </a:spcAft>
              <a:buClr>
                <a:srgbClr val="000000"/>
              </a:buClr>
              <a:buSzPts val="1960"/>
              <a:buChar char="○"/>
            </a:pPr>
            <a:r>
              <a:rPr lang="en-US" sz="1960">
                <a:solidFill>
                  <a:srgbClr val="000000"/>
                </a:solidFill>
                <a:latin typeface="Calibri"/>
                <a:ea typeface="Calibri"/>
                <a:cs typeface="Calibri"/>
                <a:sym typeface="Calibri"/>
              </a:rPr>
              <a:t>Reflect and sharpen your goals</a:t>
            </a:r>
            <a:endParaRPr sz="1960">
              <a:solidFill>
                <a:srgbClr val="000000"/>
              </a:solidFill>
              <a:latin typeface="Calibri"/>
              <a:ea typeface="Calibri"/>
              <a:cs typeface="Calibri"/>
              <a:sym typeface="Calibri"/>
            </a:endParaRPr>
          </a:p>
          <a:p>
            <a:pPr indent="-353060" lvl="0" marL="342900" rtl="0" algn="l">
              <a:lnSpc>
                <a:spcPct val="115000"/>
              </a:lnSpc>
              <a:spcBef>
                <a:spcPts val="0"/>
              </a:spcBef>
              <a:spcAft>
                <a:spcPts val="0"/>
              </a:spcAft>
              <a:buClr>
                <a:srgbClr val="000000"/>
              </a:buClr>
              <a:buSzPts val="1960"/>
              <a:buChar char="●"/>
            </a:pPr>
            <a:r>
              <a:rPr lang="en-US" sz="1960">
                <a:solidFill>
                  <a:srgbClr val="000000"/>
                </a:solidFill>
                <a:latin typeface="Calibri"/>
                <a:ea typeface="Calibri"/>
                <a:cs typeface="Calibri"/>
                <a:sym typeface="Calibri"/>
              </a:rPr>
              <a:t>Use your Career Tool Ecosystem (website, wikis, projects, platforms, feedback loops) to amplify your brand.</a:t>
            </a:r>
            <a:endParaRPr sz="1960">
              <a:solidFill>
                <a:srgbClr val="000000"/>
              </a:solidFill>
              <a:latin typeface="Calibri"/>
              <a:ea typeface="Calibri"/>
              <a:cs typeface="Calibri"/>
              <a:sym typeface="Calibri"/>
            </a:endParaRPr>
          </a:p>
          <a:p>
            <a:pPr indent="-353060" lvl="0" marL="342900" rtl="0" algn="l">
              <a:lnSpc>
                <a:spcPct val="115000"/>
              </a:lnSpc>
              <a:spcBef>
                <a:spcPts val="0"/>
              </a:spcBef>
              <a:spcAft>
                <a:spcPts val="0"/>
              </a:spcAft>
              <a:buClr>
                <a:srgbClr val="000000"/>
              </a:buClr>
              <a:buSzPts val="1960"/>
              <a:buChar char="●"/>
            </a:pPr>
            <a:r>
              <a:rPr lang="en-US" sz="1960">
                <a:solidFill>
                  <a:srgbClr val="000000"/>
                </a:solidFill>
                <a:latin typeface="Calibri"/>
                <a:ea typeface="Calibri"/>
                <a:cs typeface="Calibri"/>
                <a:sym typeface="Calibri"/>
              </a:rPr>
              <a:t>The result: a scalable career where opportunities, recognition, and growth compound over time - just like well-designed systems.</a:t>
            </a:r>
            <a:endParaRPr sz="1960">
              <a:solidFill>
                <a:srgbClr val="000000"/>
              </a:solidFill>
              <a:latin typeface="Calibri"/>
              <a:ea typeface="Calibri"/>
              <a:cs typeface="Calibri"/>
              <a:sym typeface="Calibri"/>
            </a:endParaRPr>
          </a:p>
        </p:txBody>
      </p:sp>
      <p:sp>
        <p:nvSpPr>
          <p:cNvPr id="298" name="Google Shape;298;p37"/>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302" name="Shape 302"/>
        <p:cNvGrpSpPr/>
        <p:nvPr/>
      </p:nvGrpSpPr>
      <p:grpSpPr>
        <a:xfrm>
          <a:off x="0" y="0"/>
          <a:ext cx="0" cy="0"/>
          <a:chOff x="0" y="0"/>
          <a:chExt cx="0" cy="0"/>
        </a:xfrm>
      </p:grpSpPr>
      <p:sp>
        <p:nvSpPr>
          <p:cNvPr id="303" name="Google Shape;30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700">
                <a:solidFill>
                  <a:srgbClr val="000000"/>
                </a:solidFill>
                <a:latin typeface="Calibri"/>
                <a:ea typeface="Calibri"/>
                <a:cs typeface="Calibri"/>
                <a:sym typeface="Calibri"/>
              </a:rPr>
              <a:t>Q&amp;A</a:t>
            </a:r>
            <a:endParaRPr sz="3300">
              <a:solidFill>
                <a:srgbClr val="000000"/>
              </a:solidFill>
            </a:endParaRPr>
          </a:p>
        </p:txBody>
      </p:sp>
      <p:sp>
        <p:nvSpPr>
          <p:cNvPr id="304" name="Google Shape;304;p39"/>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305" name="Google Shape;305;p39"/>
          <p:cNvSpPr txBox="1"/>
          <p:nvPr/>
        </p:nvSpPr>
        <p:spPr>
          <a:xfrm>
            <a:off x="853050" y="1873950"/>
            <a:ext cx="74379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400">
                <a:solidFill>
                  <a:schemeClr val="dk2"/>
                </a:solidFill>
                <a:latin typeface="Proxima Nova"/>
                <a:ea typeface="Proxima Nova"/>
                <a:cs typeface="Proxima Nova"/>
                <a:sym typeface="Proxima Nova"/>
              </a:rPr>
              <a:t>Thank You!</a:t>
            </a:r>
            <a:endParaRPr sz="3400">
              <a:solidFill>
                <a:schemeClr val="dk2"/>
              </a:solidFill>
              <a:latin typeface="Proxima Nova"/>
              <a:ea typeface="Proxima Nova"/>
              <a:cs typeface="Proxima Nova"/>
              <a:sym typeface="Proxima Nova"/>
            </a:endParaRPr>
          </a:p>
        </p:txBody>
      </p:sp>
      <p:sp>
        <p:nvSpPr>
          <p:cNvPr id="306" name="Google Shape;306;p39"/>
          <p:cNvSpPr txBox="1"/>
          <p:nvPr/>
        </p:nvSpPr>
        <p:spPr>
          <a:xfrm>
            <a:off x="3564750" y="3429000"/>
            <a:ext cx="47262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u="sng">
                <a:solidFill>
                  <a:schemeClr val="hlink"/>
                </a:solidFill>
                <a:latin typeface="Proxima Nova"/>
                <a:ea typeface="Proxima Nova"/>
                <a:cs typeface="Proxima Nova"/>
                <a:sym typeface="Proxima Nova"/>
              </a:rPr>
              <a:t>https://</a:t>
            </a:r>
            <a:r>
              <a:rPr lang="en-US" sz="2100" u="sng">
                <a:solidFill>
                  <a:schemeClr val="hlink"/>
                </a:solidFill>
                <a:latin typeface="Proxima Nova"/>
                <a:ea typeface="Proxima Nova"/>
                <a:cs typeface="Proxima Nova"/>
                <a:sym typeface="Proxima Nova"/>
                <a:hlinkClick r:id="rId3"/>
              </a:rPr>
              <a:t>www.lebiru.com</a:t>
            </a:r>
            <a:endParaRPr sz="21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US" sz="2100" u="sng">
                <a:solidFill>
                  <a:schemeClr val="hlink"/>
                </a:solidFill>
                <a:latin typeface="Proxima Nova"/>
                <a:ea typeface="Proxima Nova"/>
                <a:cs typeface="Proxima Nova"/>
                <a:sym typeface="Proxima Nova"/>
                <a:hlinkClick r:id="rId4"/>
              </a:rPr>
              <a:t>https://github.com/lebiru</a:t>
            </a:r>
            <a:endParaRPr sz="21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US" sz="2100" u="sng">
                <a:solidFill>
                  <a:schemeClr val="hlink"/>
                </a:solidFill>
                <a:latin typeface="Proxima Nova"/>
                <a:ea typeface="Proxima Nova"/>
                <a:cs typeface="Proxima Nova"/>
                <a:sym typeface="Proxima Nova"/>
                <a:hlinkClick r:id="rId5"/>
              </a:rPr>
              <a:t>https://www.linkedin.com/in/bilalakabi/</a:t>
            </a:r>
            <a:endParaRPr sz="2100">
              <a:solidFill>
                <a:schemeClr val="dk2"/>
              </a:solidFill>
              <a:latin typeface="Proxima Nova"/>
              <a:ea typeface="Proxima Nova"/>
              <a:cs typeface="Proxima Nova"/>
              <a:sym typeface="Proxima Nova"/>
            </a:endParaRPr>
          </a:p>
        </p:txBody>
      </p:sp>
      <p:pic>
        <p:nvPicPr>
          <p:cNvPr id="307" name="Google Shape;307;p39"/>
          <p:cNvPicPr preferRelativeResize="0"/>
          <p:nvPr/>
        </p:nvPicPr>
        <p:blipFill>
          <a:blip r:embed="rId6">
            <a:alphaModFix/>
          </a:blip>
          <a:stretch>
            <a:fillRect/>
          </a:stretch>
        </p:blipFill>
        <p:spPr>
          <a:xfrm>
            <a:off x="1202650" y="3038262"/>
            <a:ext cx="1780750" cy="1777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2D2"/>
        </a:solidFill>
      </p:bgPr>
    </p:bg>
    <p:spTree>
      <p:nvGrpSpPr>
        <p:cNvPr id="311" name="Shape 311"/>
        <p:cNvGrpSpPr/>
        <p:nvPr/>
      </p:nvGrpSpPr>
      <p:grpSpPr>
        <a:xfrm>
          <a:off x="0" y="0"/>
          <a:ext cx="0" cy="0"/>
          <a:chOff x="0" y="0"/>
          <a:chExt cx="0" cy="0"/>
        </a:xfrm>
      </p:grpSpPr>
      <p:sp>
        <p:nvSpPr>
          <p:cNvPr id="312" name="Google Shape;312;g39f5aeafacf_0_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700">
                <a:solidFill>
                  <a:srgbClr val="000000"/>
                </a:solidFill>
                <a:latin typeface="Calibri"/>
                <a:ea typeface="Calibri"/>
                <a:cs typeface="Calibri"/>
                <a:sym typeface="Calibri"/>
              </a:rPr>
              <a:t>Appendix</a:t>
            </a:r>
            <a:endParaRPr sz="3300">
              <a:solidFill>
                <a:srgbClr val="000000"/>
              </a:solidFill>
            </a:endParaRPr>
          </a:p>
        </p:txBody>
      </p:sp>
      <p:sp>
        <p:nvSpPr>
          <p:cNvPr id="313" name="Google Shape;313;g39f5aeafacf_0_4"/>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314" name="Google Shape;314;g39f5aeafacf_0_4"/>
          <p:cNvSpPr txBox="1"/>
          <p:nvPr/>
        </p:nvSpPr>
        <p:spPr>
          <a:xfrm>
            <a:off x="457200" y="1417650"/>
            <a:ext cx="7850400" cy="4242300"/>
          </a:xfrm>
          <a:prstGeom prst="rect">
            <a:avLst/>
          </a:prstGeom>
          <a:noFill/>
          <a:ln>
            <a:noFill/>
          </a:ln>
        </p:spPr>
        <p:txBody>
          <a:bodyPr anchorCtr="0" anchor="ctr" bIns="91425" lIns="91425" spcFirstLastPara="1" rIns="91425" wrap="square" tIns="91425">
            <a:noAutofit/>
          </a:bodyPr>
          <a:lstStyle/>
          <a:p>
            <a:pPr indent="-355600" lvl="0" marL="457200" rtl="0" algn="l">
              <a:spcBef>
                <a:spcPts val="0"/>
              </a:spcBef>
              <a:spcAft>
                <a:spcPts val="0"/>
              </a:spcAft>
              <a:buSzPts val="2000"/>
              <a:buFont typeface="Calibri"/>
              <a:buAutoNum type="arabicPeriod"/>
            </a:pPr>
            <a:r>
              <a:rPr lang="en-US" sz="2000">
                <a:latin typeface="Calibri"/>
                <a:ea typeface="Calibri"/>
                <a:cs typeface="Calibri"/>
                <a:sym typeface="Calibri"/>
              </a:rPr>
              <a:t>LinkedIn. </a:t>
            </a:r>
            <a:r>
              <a:rPr i="1" lang="en-US" sz="2000">
                <a:latin typeface="Calibri"/>
                <a:ea typeface="Calibri"/>
                <a:cs typeface="Calibri"/>
                <a:sym typeface="Calibri"/>
              </a:rPr>
              <a:t>“Soft Skills Tied to Faster Promotions.”</a:t>
            </a:r>
            <a:r>
              <a:rPr lang="en-US" sz="2000">
                <a:latin typeface="Calibri"/>
                <a:ea typeface="Calibri"/>
                <a:cs typeface="Calibri"/>
                <a:sym typeface="Calibri"/>
              </a:rPr>
              <a:t> LinkedIn Business Talent, 1 Aug. 2023,</a:t>
            </a:r>
            <a:r>
              <a:rPr lang="en-US" sz="2000">
                <a:uFill>
                  <a:noFill/>
                </a:uFill>
                <a:latin typeface="Calibri"/>
                <a:ea typeface="Calibri"/>
                <a:cs typeface="Calibri"/>
                <a:sym typeface="Calibri"/>
                <a:hlinkClick r:id="rId3"/>
              </a:rPr>
              <a:t> </a:t>
            </a:r>
            <a:r>
              <a:rPr lang="en-US" sz="2000" u="sng">
                <a:solidFill>
                  <a:schemeClr val="hlink"/>
                </a:solidFill>
                <a:latin typeface="Calibri"/>
                <a:ea typeface="Calibri"/>
                <a:cs typeface="Calibri"/>
                <a:sym typeface="Calibri"/>
                <a:hlinkClick r:id="rId4"/>
              </a:rPr>
              <a:t>https://www.linkedin.com/business/talent/blog/employee-experience/soft-skills-tied-to-faster-promotions</a:t>
            </a:r>
            <a:r>
              <a:rPr lang="en-US" sz="2000">
                <a:latin typeface="Calibri"/>
                <a:ea typeface="Calibri"/>
                <a:cs typeface="Calibri"/>
                <a:sym typeface="Calibri"/>
              </a:rPr>
              <a:t>.</a:t>
            </a:r>
            <a:br>
              <a:rPr lang="en-US" sz="2000">
                <a:latin typeface="Calibri"/>
                <a:ea typeface="Calibri"/>
                <a:cs typeface="Calibri"/>
                <a:sym typeface="Calibri"/>
              </a:rPr>
            </a:br>
            <a:endParaRPr sz="2000">
              <a:latin typeface="Calibri"/>
              <a:ea typeface="Calibri"/>
              <a:cs typeface="Calibri"/>
              <a:sym typeface="Calibri"/>
            </a:endParaRPr>
          </a:p>
          <a:p>
            <a:pPr indent="-355600" lvl="0" marL="457200" rtl="0" algn="l">
              <a:spcBef>
                <a:spcPts val="0"/>
              </a:spcBef>
              <a:spcAft>
                <a:spcPts val="0"/>
              </a:spcAft>
              <a:buSzPts val="2000"/>
              <a:buFont typeface="Calibri"/>
              <a:buAutoNum type="arabicPeriod"/>
            </a:pPr>
            <a:r>
              <a:rPr lang="en-US" sz="2000">
                <a:latin typeface="Calibri"/>
                <a:ea typeface="Calibri"/>
                <a:cs typeface="Calibri"/>
                <a:sym typeface="Calibri"/>
              </a:rPr>
              <a:t>U.S. Department of Labor. </a:t>
            </a:r>
            <a:r>
              <a:rPr i="1" lang="en-US" sz="2000">
                <a:latin typeface="Calibri"/>
                <a:ea typeface="Calibri"/>
                <a:cs typeface="Calibri"/>
                <a:sym typeface="Calibri"/>
              </a:rPr>
              <a:t>Soft Skills: The Competitive Edge.</a:t>
            </a:r>
            <a:r>
              <a:rPr lang="en-US" sz="2000">
                <a:latin typeface="Calibri"/>
                <a:ea typeface="Calibri"/>
                <a:cs typeface="Calibri"/>
                <a:sym typeface="Calibri"/>
              </a:rPr>
              <a:t> Office of Disability Employment Policy, Apr. 2020, https://www.dol.gov/agencies/odep/publications/fact-sheets/soft-skills-the-competitive-edge.</a:t>
            </a:r>
            <a:br>
              <a:rPr lang="en-US" sz="2000">
                <a:latin typeface="Calibri"/>
                <a:ea typeface="Calibri"/>
                <a:cs typeface="Calibri"/>
                <a:sym typeface="Calibri"/>
              </a:rPr>
            </a:br>
            <a:endParaRPr sz="2000">
              <a:latin typeface="Calibri"/>
              <a:ea typeface="Calibri"/>
              <a:cs typeface="Calibri"/>
              <a:sym typeface="Calibri"/>
            </a:endParaRPr>
          </a:p>
          <a:p>
            <a:pPr indent="-355600" lvl="0" marL="457200" rtl="0" algn="l">
              <a:spcBef>
                <a:spcPts val="0"/>
              </a:spcBef>
              <a:spcAft>
                <a:spcPts val="0"/>
              </a:spcAft>
              <a:buSzPts val="2000"/>
              <a:buFont typeface="Calibri"/>
              <a:buAutoNum type="arabicPeriod"/>
            </a:pPr>
            <a:r>
              <a:rPr lang="en-US" sz="2000">
                <a:latin typeface="Calibri"/>
                <a:ea typeface="Calibri"/>
                <a:cs typeface="Calibri"/>
                <a:sym typeface="Calibri"/>
              </a:rPr>
              <a:t>Harvard Business Review. </a:t>
            </a:r>
            <a:r>
              <a:rPr i="1" lang="en-US" sz="2000">
                <a:latin typeface="Calibri"/>
                <a:ea typeface="Calibri"/>
                <a:cs typeface="Calibri"/>
                <a:sym typeface="Calibri"/>
              </a:rPr>
              <a:t>“How to Do Sponsorship Right.”</a:t>
            </a:r>
            <a:r>
              <a:rPr lang="en-US" sz="2000">
                <a:latin typeface="Calibri"/>
                <a:ea typeface="Calibri"/>
                <a:cs typeface="Calibri"/>
                <a:sym typeface="Calibri"/>
              </a:rPr>
              <a:t> HBR, 15 Nov. 2022,</a:t>
            </a:r>
            <a:r>
              <a:rPr lang="en-US" sz="2000">
                <a:uFill>
                  <a:noFill/>
                </a:uFill>
                <a:latin typeface="Calibri"/>
                <a:ea typeface="Calibri"/>
                <a:cs typeface="Calibri"/>
                <a:sym typeface="Calibri"/>
                <a:hlinkClick r:id="rId5"/>
              </a:rPr>
              <a:t> </a:t>
            </a:r>
            <a:r>
              <a:rPr lang="en-US" sz="2000" u="sng">
                <a:solidFill>
                  <a:schemeClr val="hlink"/>
                </a:solidFill>
                <a:latin typeface="Calibri"/>
                <a:ea typeface="Calibri"/>
                <a:cs typeface="Calibri"/>
                <a:sym typeface="Calibri"/>
                <a:hlinkClick r:id="rId6"/>
              </a:rPr>
              <a:t>https://hbr.org/2022/11/how-to-do-sponsorship-right</a:t>
            </a:r>
            <a:r>
              <a:rPr lang="en-US" sz="2000">
                <a:latin typeface="Calibri"/>
                <a:ea typeface="Calibri"/>
                <a:cs typeface="Calibri"/>
                <a:sym typeface="Calibri"/>
              </a:rPr>
              <a:t>.</a:t>
            </a:r>
            <a:endParaRPr sz="2000">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